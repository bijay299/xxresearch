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all for coming. I am Bijay Pandey, from Howard University, and today I want to talk about</a:t>
            </a:r>
          </a:p>
          <a:p>
            <a:r>
              <a:t>whether a text to image model can be made to forget a concept, and whether that forgetting lasts.</a:t>
            </a:r>
          </a:p>
          <a:p>
            <a:r>
              <a:t>The practical setting is this. A company releases an image generation model and later decides it</a:t>
            </a:r>
          </a:p>
          <a:p>
            <a:r>
              <a:t>should no longer produce some concept. Many published methods now edit the weights so the model</a:t>
            </a:r>
          </a:p>
          <a:p>
            <a:r>
              <a:t>stops generating it. But a released model does not stay frozen. People download it and fine tune it</a:t>
            </a:r>
          </a:p>
          <a:p>
            <a:r>
              <a:t>on their own data. So the question that actually matters for deployment is not</a:t>
            </a:r>
          </a:p>
          <a:p>
            <a:r>
              <a:t>only whether the concept is gone today, but whether a modest amount of later training can bring it</a:t>
            </a:r>
          </a:p>
          <a:p>
            <a:r>
              <a:t>back. That is the question this work tries to answer, and I will show you measurements rather than</a:t>
            </a:r>
          </a:p>
          <a:p>
            <a:r>
              <a:t>intuitions.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method we have been developing is called UTRAP. The idea is to anticipate the attack during</a:t>
            </a:r>
          </a:p>
          <a:p>
            <a:r>
              <a:t>training. We start from a model that has already had the concept erased. We then simulate what an</a:t>
            </a:r>
          </a:p>
          <a:p>
            <a:r>
              <a:t>adversary would do, by running a few fine tuning steps that try to teach the concept back. We take</a:t>
            </a:r>
          </a:p>
          <a:p>
            <a:r>
              <a:t>the model that simulated adversary produced and push the defence in the direction that undoes it,</a:t>
            </a:r>
          </a:p>
          <a:p>
            <a:r>
              <a:t>while a preservation term keeps unrelated abilities intact. K is the number of</a:t>
            </a:r>
          </a:p>
          <a:p>
            <a:r>
              <a:t>simulated attack steps. K equals eight is our main configuration, and K equals zero is the control,</a:t>
            </a:r>
          </a:p>
          <a:p>
            <a:r>
              <a:t>where no attack is simulated at all. One implementation detail matters for interpreting everything</a:t>
            </a:r>
          </a:p>
          <a:p>
            <a:r>
              <a:t>that follows. The simulated attack is run with the gradient detached, so we take a gradient at the</a:t>
            </a:r>
          </a:p>
          <a:p>
            <a:r>
              <a:t>end point of the simulated attack and treat the path to that end point as fixed. We do not</a:t>
            </a:r>
          </a:p>
          <a:p>
            <a:r>
              <a:t>differentiate through the attack trajectory.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measure three things. First, target suppression before any attack, which asks whether the</a:t>
            </a:r>
          </a:p>
          <a:p>
            <a:r>
              <a:t>concept is actually gone. Second, preservation, which asks whether unrelated concepts still work.</a:t>
            </a:r>
          </a:p>
          <a:p>
            <a:r>
              <a:t>Third, target recovery after relearning, which asks whether the concept comes back. The recovery</a:t>
            </a:r>
          </a:p>
          <a:p>
            <a:r>
              <a:t>number is called H. H is the fraction of fifteen generated images, from three prompts the attacker</a:t>
            </a:r>
          </a:p>
          <a:p>
            <a:r>
              <a:t>never trained on, that a fixed CLIP classifier labels as the target concept. The denominator is</a:t>
            </a:r>
          </a:p>
          <a:p>
            <a:r>
              <a:t>fifteen, so H moves in steps of about zero point zero six seven. Higher H after an attack means more</a:t>
            </a:r>
          </a:p>
          <a:p>
            <a:r>
              <a:t>of the concept came back, so for a defence lower is better. Our main concept is church, with Van</a:t>
            </a:r>
          </a:p>
          <a:p>
            <a:r>
              <a:t>Gogh style as a second concept. One point on honesty of labelling. We have official code execution</a:t>
            </a:r>
          </a:p>
          <a:p>
            <a:r>
              <a:t>for IMMA, from paper ports for several baselines, and our own method, and I will mark which is</a:t>
            </a:r>
          </a:p>
          <a:p>
            <a:r>
              <a:t>which on each slide rather than calling everything a reproduction.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real generated images, not illustrations. Every image uses the same prompt, the same</a:t>
            </a:r>
          </a:p>
          <a:p>
            <a:r>
              <a:t>generator seed, the same twenty five sampling steps, the same guidance scale and the same</a:t>
            </a:r>
          </a:p>
          <a:p>
            <a:r>
              <a:t>resolution, so the differences come from the model weights and nothing else. The top row is the</a:t>
            </a:r>
          </a:p>
          <a:p>
            <a:r>
              <a:t>target prompt, a photo of a church. On the left the original model produces a clear church, and each</a:t>
            </a:r>
          </a:p>
          <a:p>
            <a:r>
              <a:t>erasure method replaces it with something else. Now look at the bottom row, which is a concept</a:t>
            </a:r>
          </a:p>
          <a:p>
            <a:r>
              <a:t>nobody tried to erase. For ESD it survives cleanly. For the other three it visibly degrades, even</a:t>
            </a:r>
          </a:p>
          <a:p>
            <a:r>
              <a:t>though their retained concept scores sit between zero point eight seven and zero point nine seven.</a:t>
            </a:r>
          </a:p>
          <a:p>
            <a:r>
              <a:t>That gap matters. Our preservation metric is a closed set classifier, and a textured blob is still</a:t>
            </a:r>
          </a:p>
          <a:p>
            <a:r>
              <a:t>classified as a golf ball. The number says preserved while the image says otherwise.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same panel extended to the remaining methods in our collection, under identical</a:t>
            </a:r>
          </a:p>
          <a:p>
            <a:r>
              <a:t>generation settings. I am showing these together because a single qualitative example can be</a:t>
            </a:r>
          </a:p>
          <a:p>
            <a:r>
              <a:t>misleading, and because the methods differ in what they put in place of the erased concept. Some</a:t>
            </a:r>
          </a:p>
          <a:p>
            <a:r>
              <a:t>produce an unrelated object, some produce a blurred or abstract image, and some produce something</a:t>
            </a:r>
          </a:p>
          <a:p>
            <a:r>
              <a:t>that still has the general shape of the original scene. Two of these are worth naming. The IMMA</a:t>
            </a:r>
          </a:p>
          <a:p>
            <a:r>
              <a:t>result here is our domain adaptation of the method onto our own teacher model, not the authors'</a:t>
            </a:r>
          </a:p>
          <a:p>
            <a:r>
              <a:t>released setting, which I will show separately. And a few method families are deliberately absent</a:t>
            </a:r>
          </a:p>
          <a:p>
            <a:r>
              <a:t>from this panel, because we found implementation problems in our own versions of them that mean</a:t>
            </a:r>
          </a:p>
          <a:p>
            <a:r>
              <a:t>they would not be a fair representation of the published work.</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quantitative version of what you just saw. The horizontal axis is how much of the target</a:t>
            </a:r>
          </a:p>
          <a:p>
            <a:r>
              <a:t>concept the model still generates after erasure, so further left means more forgotten. The vertical</a:t>
            </a:r>
          </a:p>
          <a:p>
            <a:r>
              <a:t>axis is accuracy on eight unrelated concepts, measured over one hundred and twenty images, so higher</a:t>
            </a:r>
          </a:p>
          <a:p>
            <a:r>
              <a:t>means more preserved. I want to be careful about what that vertical axis is. It is closed set</a:t>
            </a:r>
          </a:p>
          <a:p>
            <a:r>
              <a:t>classification accuracy on a fixed panel of concepts. It is not a measure of image quality, and the</a:t>
            </a:r>
          </a:p>
          <a:p>
            <a:r>
              <a:t>images two slides ago showed exactly that failure: methods scoring above zero point eight seven here</a:t>
            </a:r>
          </a:p>
          <a:p>
            <a:r>
              <a:t>were visibly degrading the concept the metric says they preserved. The</a:t>
            </a:r>
          </a:p>
          <a:p>
            <a:r>
              <a:t>large markers are one representative build per method, and the small translucent markers are the</a:t>
            </a:r>
          </a:p>
          <a:p>
            <a:r>
              <a:t>additional independent builds of our own method. The important observation is that the methods do</a:t>
            </a:r>
          </a:p>
          <a:p>
            <a:r>
              <a:t>not start the later attack from the same place, so any comparison of what happens after an attack</a:t>
            </a:r>
          </a:p>
          <a:p>
            <a:r>
              <a:t>has to account for where each method began.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central result of the talk. Each row is one method. The first column is the original</a:t>
            </a:r>
          </a:p>
          <a:p>
            <a:r>
              <a:t>model, the second is after erasure, and the third is after a relearning attack. Within each row the</a:t>
            </a:r>
          </a:p>
          <a:p>
            <a:r>
              <a:t>prompt, the generator seed, and all generation settings are identical across the three columns, so</a:t>
            </a:r>
          </a:p>
          <a:p>
            <a:r>
              <a:t>the only thing changing is the weights. The attack is twenty five gradient steps of ordinary fine</a:t>
            </a:r>
          </a:p>
          <a:p>
            <a:r>
              <a:t>tuning on images of the concept, at a learning rate I will come back to in two slides. The result is</a:t>
            </a:r>
          </a:p>
          <a:p>
            <a:r>
              <a:t>that the concept returns. It returns for the baselines and it returns for our method. In the</a:t>
            </a:r>
          </a:p>
          <a:p>
            <a:r>
              <a:t>measurements behind these images, recovery reaches the maximum value the metric can take for every</a:t>
            </a:r>
          </a:p>
          <a:p>
            <a:r>
              <a:t>arm we tested once the attack is properly configured. Forgetting, as these methods implement it, did</a:t>
            </a:r>
          </a:p>
          <a:p>
            <a:r>
              <a:t>not survive ordinary later training.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isolates the part of our own method that was supposed to provide the benefit. Each marker</a:t>
            </a:r>
          </a:p>
          <a:p>
            <a:r>
              <a:t>is one attack on one defence build, at a fixed budget of twenty five steps. Filled markers are</a:t>
            </a:r>
          </a:p>
          <a:p>
            <a:r>
              <a:t>attacks that passed our validity check, meaning the attacker demonstrably relearned the prompts it</a:t>
            </a:r>
          </a:p>
          <a:p>
            <a:r>
              <a:t>was trained on. Hollow markers failed that check and are inconclusive rather than successful</a:t>
            </a:r>
          </a:p>
          <a:p>
            <a:r>
              <a:t>defences, and I am showing them rather than hiding them. On the left is our control with no attack</a:t>
            </a:r>
          </a:p>
          <a:p>
            <a:r>
              <a:t>anticipation, in the middle is our main configuration with eight simulated attack steps, and on the</a:t>
            </a:r>
          </a:p>
          <a:p>
            <a:r>
              <a:t>right is the untreated teacher model the two were built from. Both of our groups ran the same number</a:t>
            </a:r>
          </a:p>
          <a:p>
            <a:r>
              <a:t>of outer updates, and the eight step group additionally received about three times as much training</a:t>
            </a:r>
          </a:p>
          <a:p>
            <a:r>
              <a:t>data. Despite that, the configuration with attack anticipation is not distinguishable from doing</a:t>
            </a:r>
          </a:p>
          <a:p>
            <a:r>
              <a:t>nothing to the teacher. In this setting, simulating the attacker did not help.</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I would most like you to remember, because it changed our own reading of our own</a:t>
            </a:r>
          </a:p>
          <a:p>
            <a:r>
              <a:t>results. Here the defence is held fixed and the attack budget is held fixed at twenty five steps.</a:t>
            </a:r>
          </a:p>
          <a:p>
            <a:r>
              <a:t>The only thing that varies is the attacker's learning rate. Each marker is a single attack seed. At</a:t>
            </a:r>
          </a:p>
          <a:p>
            <a:r>
              <a:t>the learning rate we had been using, our control arm looks resistant, sitting near the bottom of the</a:t>
            </a:r>
          </a:p>
          <a:p>
            <a:r>
              <a:t>axis. Raise the learning rate fivefold and the same checkpoints go to full recovery. Raise it again</a:t>
            </a:r>
          </a:p>
          <a:p>
            <a:r>
              <a:t>and recovery goes back down, so a larger learning rate is not automatically a stronger attack. Two consequences follow. A defence can appear to resist simply because the attacker was poorly</a:t>
            </a:r>
          </a:p>
          <a:p>
            <a:r>
              <a:t>tuned, and any recovery number measured at a single learning rate is a lower bound rather than an</a:t>
            </a:r>
          </a:p>
          <a:p>
            <a:r>
              <a:t>estimate of robustness. The honest statistic is the worst recovery observed over a sweep, and even</a:t>
            </a:r>
          </a:p>
          <a:p>
            <a:r>
              <a:t>that is only a statement about the grid we tested.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want to show one published method run from the authors' own code, kept separate from everything</a:t>
            </a:r>
          </a:p>
          <a:p>
            <a:r>
              <a:t>else. This is IMMA, on Van Gogh style, at the training budget documented in the authors' repository.</a:t>
            </a:r>
          </a:p>
          <a:p>
            <a:r>
              <a:t>The images are the original model, the ESD erased model that IMMA starts from, and the model after</a:t>
            </a:r>
          </a:p>
          <a:p>
            <a:r>
              <a:t>IMMA. The plot shows what happened when we then attacked it. Three attacks on one defence build, all</a:t>
            </a:r>
          </a:p>
          <a:p>
            <a:r>
              <a:t>three passing the validity check, with recovery of zero point eight seven, one point zero, and one</a:t>
            </a:r>
          </a:p>
          <a:p>
            <a:r>
              <a:t>point zero. I want to be precise about the scope of this. We ran the authors' code, but the training</a:t>
            </a:r>
          </a:p>
          <a:p>
            <a:r>
              <a:t>images, the evaluation prompts, and the classifier are ours. So this is an execution of published</a:t>
            </a:r>
          </a:p>
          <a:p>
            <a:r>
              <a:t>code under our evaluation, and it is not a reproduction of the numbers in their paper, and it is not</a:t>
            </a:r>
          </a:p>
          <a:p>
            <a:r>
              <a:t>a comparison against the church results, which were produced under different conditions.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things. First, across every method we tested, concept forgetting did not survive a modest</a:t>
            </a:r>
          </a:p>
          <a:p>
            <a:r>
              <a:t>relearning attack. Second, the attack anticipation mechanism in our own method produced no</a:t>
            </a:r>
          </a:p>
          <a:p>
            <a:r>
              <a:t>measurable benefit over the untreated teacher, at matched training budgets and across three</a:t>
            </a:r>
          </a:p>
          <a:p>
            <a:r>
              <a:t>independent builds. Third, and most important methodologically, how resistant a defence appears</a:t>
            </a:r>
          </a:p>
          <a:p>
            <a:r>
              <a:t>depends strongly on how well the attacker is tuned, and we were ourselves misled by this before we</a:t>
            </a:r>
          </a:p>
          <a:p>
            <a:r>
              <a:t>swept the attacker. So at present UTRAP does not demonstrate a repeatable advantage, and I am not</a:t>
            </a:r>
          </a:p>
          <a:p>
            <a:r>
              <a:t>going to present it as one. What remains open is whether anything in this family survives an attacker tuned as carefully as the</a:t>
            </a:r>
          </a:p>
          <a:p>
            <a:r>
              <a:t>defence. That is the next experiment. Take our strongest configuration and tune the attacker</a:t>
            </a:r>
          </a:p>
          <a:p>
            <a:r>
              <a:t>against it with the effort we spent tuning the defence, rather than at a fixed learning rate. If the</a:t>
            </a:r>
          </a:p>
          <a:p>
            <a:r>
              <a:t>concept still returns, this family does not deliver durable forgetting, and that is worth reporting</a:t>
            </a:r>
          </a:p>
          <a:p>
            <a:r>
              <a:t>on its own.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references for the base model, the methods, and the evaluator are listed here, and I am happy to</a:t>
            </a:r>
          </a:p>
          <a:p>
            <a:r>
              <a:t>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 Id="rId10" Type="http://schemas.openxmlformats.org/officeDocument/2006/relationships/image" Target="../media/image9.png"/><Relationship Id="rId11" Type="http://schemas.openxmlformats.org/officeDocument/2006/relationships/image" Target="../media/image10.png"/><Relationship Id="rId1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5.png"/><Relationship Id="rId7" Type="http://schemas.openxmlformats.org/officeDocument/2006/relationships/image" Target="../media/image14.png"/><Relationship Id="rId8" Type="http://schemas.openxmlformats.org/officeDocument/2006/relationships/image" Target="../media/image15.png"/><Relationship Id="rId9" Type="http://schemas.openxmlformats.org/officeDocument/2006/relationships/image" Target="../media/image16.png"/><Relationship Id="rId10" Type="http://schemas.openxmlformats.org/officeDocument/2006/relationships/image" Target="../media/image17.png"/><Relationship Id="rId11" Type="http://schemas.openxmlformats.org/officeDocument/2006/relationships/image" Target="../media/image18.png"/><Relationship Id="rId1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image" Target="../media/image20.png"/><Relationship Id="rId5" Type="http://schemas.openxmlformats.org/officeDocument/2006/relationships/image" Target="../media/image5.png"/><Relationship Id="rId6" Type="http://schemas.openxmlformats.org/officeDocument/2006/relationships/image" Target="../media/image21.png"/><Relationship Id="rId7" Type="http://schemas.openxmlformats.org/officeDocument/2006/relationships/image" Target="../media/image3.png"/><Relationship Id="rId8" Type="http://schemas.openxmlformats.org/officeDocument/2006/relationships/image" Target="../media/image22.png"/><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image" Target="../media/image26.png"/><Relationship Id="rId4" Type="http://schemas.openxmlformats.org/officeDocument/2006/relationships/image" Target="../media/image27.png"/><Relationship Id="rId5" Type="http://schemas.openxmlformats.org/officeDocument/2006/relationships/image" Target="../media/image28.png"/><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868680" y="1965960"/>
            <a:ext cx="10424160" cy="274320"/>
          </a:xfrm>
          <a:prstGeom prst="rect">
            <a:avLst/>
          </a:prstGeom>
          <a:noFill/>
        </p:spPr>
        <p:txBody>
          <a:bodyPr wrap="square">
            <a:spAutoFit/>
          </a:bodyPr>
          <a:lstStyle/>
          <a:p>
            <a:pPr algn="l">
              <a:defRPr sz="3800" b="1">
                <a:solidFill>
                  <a:srgbClr val="1A1A1A"/>
                </a:solidFill>
                <a:latin typeface="Calibri"/>
              </a:defRPr>
            </a:pPr>
            <a:r>
              <a:t>Does Concept Forgetting Survive Relearning?</a:t>
            </a:r>
          </a:p>
        </p:txBody>
      </p:sp>
      <p:sp>
        <p:nvSpPr>
          <p:cNvPr id="3" name="TextBox 2"/>
          <p:cNvSpPr txBox="1"/>
          <p:nvPr/>
        </p:nvSpPr>
        <p:spPr>
          <a:xfrm>
            <a:off x="868680" y="2971800"/>
            <a:ext cx="10424160" cy="274320"/>
          </a:xfrm>
          <a:prstGeom prst="rect">
            <a:avLst/>
          </a:prstGeom>
          <a:noFill/>
        </p:spPr>
        <p:txBody>
          <a:bodyPr wrap="square">
            <a:spAutoFit/>
          </a:bodyPr>
          <a:lstStyle/>
          <a:p>
            <a:pPr algn="l">
              <a:defRPr sz="1700" b="0">
                <a:solidFill>
                  <a:srgbClr val="666666"/>
                </a:solidFill>
                <a:latin typeface="Calibri"/>
              </a:defRPr>
            </a:pPr>
            <a:r>
              <a:t>Measuring whether erased concepts return after ordinary fine tuning</a:t>
            </a:r>
          </a:p>
        </p:txBody>
      </p:sp>
      <p:sp>
        <p:nvSpPr>
          <p:cNvPr id="4" name="TextBox 3"/>
          <p:cNvSpPr txBox="1"/>
          <p:nvPr/>
        </p:nvSpPr>
        <p:spPr>
          <a:xfrm>
            <a:off x="886968" y="3886200"/>
            <a:ext cx="10424160" cy="274320"/>
          </a:xfrm>
          <a:prstGeom prst="rect">
            <a:avLst/>
          </a:prstGeom>
          <a:noFill/>
        </p:spPr>
        <p:txBody>
          <a:bodyPr wrap="square">
            <a:spAutoFit/>
          </a:bodyPr>
          <a:lstStyle/>
          <a:p>
            <a:pPr algn="l">
              <a:defRPr sz="1500" b="0">
                <a:solidFill>
                  <a:srgbClr val="1A1A1A"/>
                </a:solidFill>
                <a:latin typeface="Calibri"/>
              </a:defRPr>
            </a:pPr>
            <a:r>
              <a:t>Bijay Pandey</a:t>
            </a:r>
          </a:p>
        </p:txBody>
      </p:sp>
      <p:sp>
        <p:nvSpPr>
          <p:cNvPr id="5" name="TextBox 4"/>
          <p:cNvSpPr txBox="1"/>
          <p:nvPr/>
        </p:nvSpPr>
        <p:spPr>
          <a:xfrm>
            <a:off x="886968" y="4279392"/>
            <a:ext cx="10424160" cy="274320"/>
          </a:xfrm>
          <a:prstGeom prst="rect">
            <a:avLst/>
          </a:prstGeom>
          <a:noFill/>
        </p:spPr>
        <p:txBody>
          <a:bodyPr wrap="square">
            <a:spAutoFit/>
          </a:bodyPr>
          <a:lstStyle/>
          <a:p>
            <a:pPr algn="l">
              <a:defRPr sz="1500" b="0">
                <a:solidFill>
                  <a:srgbClr val="666666"/>
                </a:solidFill>
                <a:latin typeface="Calibri"/>
              </a:defRPr>
            </a:pPr>
            <a:r>
              <a:t>Howard University</a:t>
            </a:r>
          </a:p>
        </p:txBody>
      </p:sp>
      <p:sp>
        <p:nvSpPr>
          <p:cNvPr id="6" name="TextBox 5"/>
          <p:cNvSpPr txBox="1"/>
          <p:nvPr/>
        </p:nvSpPr>
        <p:spPr>
          <a:xfrm>
            <a:off x="886968" y="4672584"/>
            <a:ext cx="10424160" cy="274320"/>
          </a:xfrm>
          <a:prstGeom prst="rect">
            <a:avLst/>
          </a:prstGeom>
          <a:noFill/>
        </p:spPr>
        <p:txBody>
          <a:bodyPr wrap="square">
            <a:spAutoFit/>
          </a:bodyPr>
          <a:lstStyle/>
          <a:p>
            <a:pPr algn="l">
              <a:defRPr sz="1500" b="0">
                <a:solidFill>
                  <a:srgbClr val="666666"/>
                </a:solidFill>
                <a:latin typeface="Calibri"/>
              </a:defRPr>
            </a:pPr>
            <a:r>
              <a:t>27 October 2026</a:t>
            </a:r>
          </a:p>
        </p:txBody>
      </p:sp>
      <p:sp>
        <p:nvSpPr>
          <p:cNvPr id="7" name="TextBox 6"/>
          <p:cNvSpPr txBox="1"/>
          <p:nvPr/>
        </p:nvSpPr>
        <p:spPr>
          <a:xfrm>
            <a:off x="886968" y="5715000"/>
            <a:ext cx="10424160" cy="274320"/>
          </a:xfrm>
          <a:prstGeom prst="rect">
            <a:avLst/>
          </a:prstGeom>
          <a:noFill/>
        </p:spPr>
        <p:txBody>
          <a:bodyPr wrap="square">
            <a:spAutoFit/>
          </a:bodyPr>
          <a:lstStyle/>
          <a:p>
            <a:pPr algn="l">
              <a:defRPr sz="1250" b="0">
                <a:solidFill>
                  <a:srgbClr val="9E2A2B"/>
                </a:solidFill>
                <a:latin typeface="Calibri"/>
              </a:defRPr>
            </a:pPr>
            <a:r>
              <a:t>Removing a concept from a released model is useful only if we know how easily later training can bring it back.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384048"/>
            <a:ext cx="10911535" cy="731520"/>
          </a:xfrm>
          <a:prstGeom prst="rect">
            <a:avLst/>
          </a:prstGeom>
          <a:noFill/>
        </p:spPr>
        <p:txBody>
          <a:bodyPr wrap="none">
            <a:spAutoFit/>
          </a:bodyPr>
          <a:lstStyle/>
          <a:p>
            <a:pPr>
              <a:defRPr sz="2600" b="1">
                <a:solidFill>
                  <a:srgbClr val="1A1A1A"/>
                </a:solidFill>
                <a:latin typeface="Calibri"/>
              </a:defRPr>
            </a:pPr>
            <a:r>
              <a:t>Our approach: UTRAP</a:t>
            </a:r>
          </a:p>
        </p:txBody>
      </p:sp>
      <p:sp>
        <p:nvSpPr>
          <p:cNvPr id="3" name="TextBox 2"/>
          <p:cNvSpPr txBox="1"/>
          <p:nvPr/>
        </p:nvSpPr>
        <p:spPr>
          <a:xfrm>
            <a:off x="713232" y="1463040"/>
            <a:ext cx="10789920" cy="274320"/>
          </a:xfrm>
          <a:prstGeom prst="rect">
            <a:avLst/>
          </a:prstGeom>
          <a:noFill/>
        </p:spPr>
        <p:txBody>
          <a:bodyPr wrap="square">
            <a:spAutoFit/>
          </a:bodyPr>
          <a:lstStyle/>
          <a:p>
            <a:pPr algn="l">
              <a:defRPr sz="1300" b="0">
                <a:solidFill>
                  <a:srgbClr val="666666"/>
                </a:solidFill>
                <a:latin typeface="Calibri"/>
              </a:defRPr>
            </a:pPr>
            <a:r>
              <a:t>Anticipate the relearning attack during training, while preserving unrelated capability</a:t>
            </a:r>
          </a:p>
        </p:txBody>
      </p:sp>
      <p:sp>
        <p:nvSpPr>
          <p:cNvPr id="4" name="Rounded Rectangle 3"/>
          <p:cNvSpPr/>
          <p:nvPr/>
        </p:nvSpPr>
        <p:spPr>
          <a:xfrm>
            <a:off x="713232" y="1920240"/>
            <a:ext cx="2331720" cy="868680"/>
          </a:xfrm>
          <a:prstGeom prst="roundRect">
            <a:avLst/>
          </a:prstGeom>
          <a:solidFill>
            <a:srgbClr val="FFFFFF"/>
          </a:solidFill>
          <a:ln w="17780">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1A1A1A"/>
                </a:solidFill>
                <a:latin typeface="Calibri"/>
              </a:defRPr>
            </a:pPr>
            <a:r>
              <a:t>Erased starting model</a:t>
            </a:r>
          </a:p>
        </p:txBody>
      </p:sp>
      <p:sp>
        <p:nvSpPr>
          <p:cNvPr id="5" name="TextBox 4"/>
          <p:cNvSpPr txBox="1"/>
          <p:nvPr/>
        </p:nvSpPr>
        <p:spPr>
          <a:xfrm>
            <a:off x="3090672" y="2148840"/>
            <a:ext cx="365760" cy="320040"/>
          </a:xfrm>
          <a:prstGeom prst="rect">
            <a:avLst/>
          </a:prstGeom>
          <a:noFill/>
        </p:spPr>
        <p:txBody>
          <a:bodyPr wrap="none">
            <a:spAutoFit/>
          </a:bodyPr>
          <a:lstStyle/>
          <a:p>
            <a:pPr algn="ctr">
              <a:defRPr sz="1600">
                <a:solidFill>
                  <a:srgbClr val="B0B0B0"/>
                </a:solidFill>
                <a:latin typeface="Calibri"/>
              </a:defRPr>
            </a:pPr>
            <a:r>
              <a:t>&gt;</a:t>
            </a:r>
          </a:p>
        </p:txBody>
      </p:sp>
      <p:sp>
        <p:nvSpPr>
          <p:cNvPr id="6" name="Rounded Rectangle 5"/>
          <p:cNvSpPr/>
          <p:nvPr/>
        </p:nvSpPr>
        <p:spPr>
          <a:xfrm>
            <a:off x="3456432" y="1920240"/>
            <a:ext cx="2331720" cy="868680"/>
          </a:xfrm>
          <a:prstGeom prst="roundRect">
            <a:avLst/>
          </a:prstGeom>
          <a:solidFill>
            <a:srgbClr val="FFFFFF"/>
          </a:solidFill>
          <a:ln w="17780">
            <a:solidFill>
              <a:srgbClr val="9E2A2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1A1A1A"/>
                </a:solidFill>
                <a:latin typeface="Calibri"/>
              </a:defRPr>
            </a:pPr>
            <a:r>
              <a:t>Simulated relearning</a:t>
            </a:r>
          </a:p>
          <a:p>
            <a:pPr algn="ctr">
              <a:defRPr sz="1200">
                <a:solidFill>
                  <a:srgbClr val="1A1A1A"/>
                </a:solidFill>
                <a:latin typeface="Calibri"/>
              </a:defRPr>
            </a:pPr>
            <a:r>
              <a:t>attack (K steps)</a:t>
            </a:r>
          </a:p>
        </p:txBody>
      </p:sp>
      <p:sp>
        <p:nvSpPr>
          <p:cNvPr id="7" name="TextBox 6"/>
          <p:cNvSpPr txBox="1"/>
          <p:nvPr/>
        </p:nvSpPr>
        <p:spPr>
          <a:xfrm>
            <a:off x="5833872" y="2148840"/>
            <a:ext cx="365760" cy="320040"/>
          </a:xfrm>
          <a:prstGeom prst="rect">
            <a:avLst/>
          </a:prstGeom>
          <a:noFill/>
        </p:spPr>
        <p:txBody>
          <a:bodyPr wrap="none">
            <a:spAutoFit/>
          </a:bodyPr>
          <a:lstStyle/>
          <a:p>
            <a:pPr algn="ctr">
              <a:defRPr sz="1600">
                <a:solidFill>
                  <a:srgbClr val="B0B0B0"/>
                </a:solidFill>
                <a:latin typeface="Calibri"/>
              </a:defRPr>
            </a:pPr>
            <a:r>
              <a:t>&gt;</a:t>
            </a:r>
          </a:p>
        </p:txBody>
      </p:sp>
      <p:sp>
        <p:nvSpPr>
          <p:cNvPr id="8" name="Rounded Rectangle 7"/>
          <p:cNvSpPr/>
          <p:nvPr/>
        </p:nvSpPr>
        <p:spPr>
          <a:xfrm>
            <a:off x="6199632" y="1920240"/>
            <a:ext cx="2331720" cy="868680"/>
          </a:xfrm>
          <a:prstGeom prst="roundRect">
            <a:avLst/>
          </a:prstGeom>
          <a:solidFill>
            <a:srgbClr val="FFFFFF"/>
          </a:solidFill>
          <a:ln w="17780">
            <a:solidFill>
              <a:srgbClr val="9E2A2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1A1A1A"/>
                </a:solidFill>
                <a:latin typeface="Calibri"/>
              </a:defRPr>
            </a:pPr>
            <a:r>
              <a:t>Defensive update at the</a:t>
            </a:r>
          </a:p>
          <a:p>
            <a:pPr algn="ctr">
              <a:defRPr sz="1200">
                <a:solidFill>
                  <a:srgbClr val="1A1A1A"/>
                </a:solidFill>
                <a:latin typeface="Calibri"/>
              </a:defRPr>
            </a:pPr>
            <a:r>
              <a:t>attacked endpoint</a:t>
            </a:r>
          </a:p>
        </p:txBody>
      </p:sp>
      <p:sp>
        <p:nvSpPr>
          <p:cNvPr id="9" name="TextBox 8"/>
          <p:cNvSpPr txBox="1"/>
          <p:nvPr/>
        </p:nvSpPr>
        <p:spPr>
          <a:xfrm>
            <a:off x="8577072" y="2148840"/>
            <a:ext cx="365760" cy="320040"/>
          </a:xfrm>
          <a:prstGeom prst="rect">
            <a:avLst/>
          </a:prstGeom>
          <a:noFill/>
        </p:spPr>
        <p:txBody>
          <a:bodyPr wrap="none">
            <a:spAutoFit/>
          </a:bodyPr>
          <a:lstStyle/>
          <a:p>
            <a:pPr algn="ctr">
              <a:defRPr sz="1600">
                <a:solidFill>
                  <a:srgbClr val="B0B0B0"/>
                </a:solidFill>
                <a:latin typeface="Calibri"/>
              </a:defRPr>
            </a:pPr>
            <a:r>
              <a:t>&gt;</a:t>
            </a:r>
          </a:p>
        </p:txBody>
      </p:sp>
      <p:sp>
        <p:nvSpPr>
          <p:cNvPr id="10" name="Rounded Rectangle 9"/>
          <p:cNvSpPr/>
          <p:nvPr/>
        </p:nvSpPr>
        <p:spPr>
          <a:xfrm>
            <a:off x="8942832" y="1920240"/>
            <a:ext cx="2331720" cy="868680"/>
          </a:xfrm>
          <a:prstGeom prst="roundRect">
            <a:avLst/>
          </a:prstGeom>
          <a:solidFill>
            <a:srgbClr val="FFFFFF"/>
          </a:solidFill>
          <a:ln w="17780">
            <a:solidFill>
              <a:srgbClr val="66666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200">
                <a:solidFill>
                  <a:srgbClr val="1A1A1A"/>
                </a:solidFill>
                <a:latin typeface="Calibri"/>
              </a:defRPr>
            </a:pPr>
            <a:r>
              <a:t>Preservation term on</a:t>
            </a:r>
          </a:p>
          <a:p>
            <a:pPr algn="ctr">
              <a:defRPr sz="1200">
                <a:solidFill>
                  <a:srgbClr val="1A1A1A"/>
                </a:solidFill>
                <a:latin typeface="Calibri"/>
              </a:defRPr>
            </a:pPr>
            <a:r>
              <a:t>retained concepts</a:t>
            </a:r>
          </a:p>
        </p:txBody>
      </p:sp>
      <p:sp>
        <p:nvSpPr>
          <p:cNvPr id="11" name="TextBox 10"/>
          <p:cNvSpPr txBox="1"/>
          <p:nvPr/>
        </p:nvSpPr>
        <p:spPr>
          <a:xfrm>
            <a:off x="713232" y="2907792"/>
            <a:ext cx="10789920" cy="274320"/>
          </a:xfrm>
          <a:prstGeom prst="rect">
            <a:avLst/>
          </a:prstGeom>
          <a:noFill/>
        </p:spPr>
        <p:txBody>
          <a:bodyPr wrap="square">
            <a:spAutoFit/>
          </a:bodyPr>
          <a:lstStyle/>
          <a:p>
            <a:pPr algn="ctr">
              <a:defRPr sz="1100" b="0">
                <a:solidFill>
                  <a:srgbClr val="666666"/>
                </a:solidFill>
                <a:latin typeface="Calibri"/>
              </a:defRPr>
            </a:pPr>
            <a:r>
              <a:t>repeat for 400 outer updates</a:t>
            </a:r>
          </a:p>
        </p:txBody>
      </p:sp>
      <p:sp>
        <p:nvSpPr>
          <p:cNvPr id="12" name="TextBox 11"/>
          <p:cNvSpPr txBox="1"/>
          <p:nvPr/>
        </p:nvSpPr>
        <p:spPr>
          <a:xfrm>
            <a:off x="713232" y="3474720"/>
            <a:ext cx="10789920" cy="274320"/>
          </a:xfrm>
          <a:prstGeom prst="rect">
            <a:avLst/>
          </a:prstGeom>
          <a:noFill/>
        </p:spPr>
        <p:txBody>
          <a:bodyPr wrap="square">
            <a:spAutoFit/>
          </a:bodyPr>
          <a:lstStyle/>
          <a:p>
            <a:pPr algn="l">
              <a:defRPr sz="1350" b="1">
                <a:solidFill>
                  <a:srgbClr val="1A1A1A"/>
                </a:solidFill>
                <a:latin typeface="Calibri"/>
              </a:defRPr>
            </a:pPr>
            <a:r>
              <a:t>K is the number of simulated attack steps.</a:t>
            </a:r>
          </a:p>
        </p:txBody>
      </p:sp>
      <p:sp>
        <p:nvSpPr>
          <p:cNvPr id="13" name="TextBox 12"/>
          <p:cNvSpPr txBox="1"/>
          <p:nvPr/>
        </p:nvSpPr>
        <p:spPr>
          <a:xfrm>
            <a:off x="713232" y="3785615"/>
            <a:ext cx="10789920" cy="274320"/>
          </a:xfrm>
          <a:prstGeom prst="rect">
            <a:avLst/>
          </a:prstGeom>
          <a:noFill/>
        </p:spPr>
        <p:txBody>
          <a:bodyPr wrap="square">
            <a:spAutoFit/>
          </a:bodyPr>
          <a:lstStyle/>
          <a:p>
            <a:pPr algn="l">
              <a:defRPr sz="1300" b="0">
                <a:solidFill>
                  <a:srgbClr val="1A1A1A"/>
                </a:solidFill>
                <a:latin typeface="Calibri"/>
              </a:defRPr>
            </a:pPr>
            <a:r>
              <a:t>K = 8 is the configuration under test. K = 0 is the control: no attack is simulated, so the update reduces to erasure plus a preservation term.</a:t>
            </a:r>
          </a:p>
        </p:txBody>
      </p:sp>
      <p:sp>
        <p:nvSpPr>
          <p:cNvPr id="14" name="TextBox 13"/>
          <p:cNvSpPr txBox="1"/>
          <p:nvPr/>
        </p:nvSpPr>
        <p:spPr>
          <a:xfrm>
            <a:off x="713232" y="4498848"/>
            <a:ext cx="10789920" cy="274320"/>
          </a:xfrm>
          <a:prstGeom prst="rect">
            <a:avLst/>
          </a:prstGeom>
          <a:noFill/>
        </p:spPr>
        <p:txBody>
          <a:bodyPr wrap="square">
            <a:spAutoFit/>
          </a:bodyPr>
          <a:lstStyle/>
          <a:p>
            <a:pPr algn="l">
              <a:defRPr sz="1350" b="1">
                <a:solidFill>
                  <a:srgbClr val="9E2A2B"/>
                </a:solidFill>
                <a:latin typeface="Calibri"/>
              </a:defRPr>
            </a:pPr>
            <a:r>
              <a:t>Implementation detail that bounds every claim in this talk.</a:t>
            </a:r>
          </a:p>
        </p:txBody>
      </p:sp>
      <p:sp>
        <p:nvSpPr>
          <p:cNvPr id="15" name="TextBox 14"/>
          <p:cNvSpPr txBox="1"/>
          <p:nvPr/>
        </p:nvSpPr>
        <p:spPr>
          <a:xfrm>
            <a:off x="713232" y="4809744"/>
            <a:ext cx="10789920" cy="274320"/>
          </a:xfrm>
          <a:prstGeom prst="rect">
            <a:avLst/>
          </a:prstGeom>
          <a:noFill/>
        </p:spPr>
        <p:txBody>
          <a:bodyPr wrap="square">
            <a:spAutoFit/>
          </a:bodyPr>
          <a:lstStyle/>
          <a:p>
            <a:pPr algn="l">
              <a:defRPr sz="1300" b="0">
                <a:solidFill>
                  <a:srgbClr val="1A1A1A"/>
                </a:solidFill>
                <a:latin typeface="Calibri"/>
              </a:defRPr>
            </a:pPr>
            <a:r>
              <a:t>The simulated attack is run with its trajectory detached. We take one gradient of the loss at the attacked endpoint and treat the path to that endpoint as fixed. This is a first order approximation. We do not differentiate through the attack trajectory.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384048"/>
            <a:ext cx="10911535" cy="731520"/>
          </a:xfrm>
          <a:prstGeom prst="rect">
            <a:avLst/>
          </a:prstGeom>
          <a:noFill/>
        </p:spPr>
        <p:txBody>
          <a:bodyPr wrap="none">
            <a:spAutoFit/>
          </a:bodyPr>
          <a:lstStyle/>
          <a:p>
            <a:pPr>
              <a:defRPr sz="2600" b="1">
                <a:solidFill>
                  <a:srgbClr val="1A1A1A"/>
                </a:solidFill>
                <a:latin typeface="Calibri"/>
              </a:defRPr>
            </a:pPr>
            <a:r>
              <a:t>How we evaluate forgetting</a:t>
            </a:r>
          </a:p>
        </p:txBody>
      </p:sp>
      <p:sp>
        <p:nvSpPr>
          <p:cNvPr id="3" name="TextBox 2"/>
          <p:cNvSpPr txBox="1"/>
          <p:nvPr/>
        </p:nvSpPr>
        <p:spPr>
          <a:xfrm>
            <a:off x="713232" y="1444752"/>
            <a:ext cx="10789920" cy="274320"/>
          </a:xfrm>
          <a:prstGeom prst="rect">
            <a:avLst/>
          </a:prstGeom>
          <a:noFill/>
        </p:spPr>
        <p:txBody>
          <a:bodyPr wrap="square">
            <a:spAutoFit/>
          </a:bodyPr>
          <a:lstStyle/>
          <a:p>
            <a:pPr algn="l">
              <a:defRPr sz="1300" b="0">
                <a:solidFill>
                  <a:srgbClr val="666666"/>
                </a:solidFill>
                <a:latin typeface="Calibri"/>
              </a:defRPr>
            </a:pPr>
            <a:r>
              <a:t>Three measurements, one shared protocol</a:t>
            </a:r>
          </a:p>
        </p:txBody>
      </p:sp>
      <p:sp>
        <p:nvSpPr>
          <p:cNvPr id="4" name="TextBox 3"/>
          <p:cNvSpPr txBox="1"/>
          <p:nvPr/>
        </p:nvSpPr>
        <p:spPr>
          <a:xfrm>
            <a:off x="713232" y="1920240"/>
            <a:ext cx="5212080" cy="274320"/>
          </a:xfrm>
          <a:prstGeom prst="rect">
            <a:avLst/>
          </a:prstGeom>
          <a:noFill/>
        </p:spPr>
        <p:txBody>
          <a:bodyPr wrap="square">
            <a:spAutoFit/>
          </a:bodyPr>
          <a:lstStyle/>
          <a:p>
            <a:pPr algn="l">
              <a:defRPr sz="1300" b="1">
                <a:solidFill>
                  <a:srgbClr val="9E2A2B"/>
                </a:solidFill>
                <a:latin typeface="Calibri"/>
              </a:defRPr>
            </a:pPr>
            <a:r>
              <a:t>1.  Target suppression before attack</a:t>
            </a:r>
          </a:p>
        </p:txBody>
      </p:sp>
      <p:sp>
        <p:nvSpPr>
          <p:cNvPr id="5" name="TextBox 4"/>
          <p:cNvSpPr txBox="1"/>
          <p:nvPr/>
        </p:nvSpPr>
        <p:spPr>
          <a:xfrm>
            <a:off x="713232" y="2231136"/>
            <a:ext cx="5212080" cy="274320"/>
          </a:xfrm>
          <a:prstGeom prst="rect">
            <a:avLst/>
          </a:prstGeom>
          <a:noFill/>
        </p:spPr>
        <p:txBody>
          <a:bodyPr wrap="square">
            <a:spAutoFit/>
          </a:bodyPr>
          <a:lstStyle/>
          <a:p>
            <a:pPr algn="l">
              <a:defRPr sz="1250" b="0">
                <a:solidFill>
                  <a:srgbClr val="1A1A1A"/>
                </a:solidFill>
                <a:latin typeface="Calibri"/>
              </a:defRPr>
            </a:pPr>
            <a:r>
              <a:t>Does the model still generate the concept at all?</a:t>
            </a:r>
          </a:p>
        </p:txBody>
      </p:sp>
      <p:sp>
        <p:nvSpPr>
          <p:cNvPr id="6" name="TextBox 5"/>
          <p:cNvSpPr txBox="1"/>
          <p:nvPr/>
        </p:nvSpPr>
        <p:spPr>
          <a:xfrm>
            <a:off x="713232" y="2670048"/>
            <a:ext cx="5212080" cy="274320"/>
          </a:xfrm>
          <a:prstGeom prst="rect">
            <a:avLst/>
          </a:prstGeom>
          <a:noFill/>
        </p:spPr>
        <p:txBody>
          <a:bodyPr wrap="square">
            <a:spAutoFit/>
          </a:bodyPr>
          <a:lstStyle/>
          <a:p>
            <a:pPr algn="l">
              <a:defRPr sz="1300" b="1">
                <a:solidFill>
                  <a:srgbClr val="9E2A2B"/>
                </a:solidFill>
                <a:latin typeface="Calibri"/>
              </a:defRPr>
            </a:pPr>
            <a:r>
              <a:t>2.  Preservation of unrelated concepts</a:t>
            </a:r>
          </a:p>
        </p:txBody>
      </p:sp>
      <p:sp>
        <p:nvSpPr>
          <p:cNvPr id="7" name="TextBox 6"/>
          <p:cNvSpPr txBox="1"/>
          <p:nvPr/>
        </p:nvSpPr>
        <p:spPr>
          <a:xfrm>
            <a:off x="713232" y="2980944"/>
            <a:ext cx="5212080" cy="274320"/>
          </a:xfrm>
          <a:prstGeom prst="rect">
            <a:avLst/>
          </a:prstGeom>
          <a:noFill/>
        </p:spPr>
        <p:txBody>
          <a:bodyPr wrap="square">
            <a:spAutoFit/>
          </a:bodyPr>
          <a:lstStyle/>
          <a:p>
            <a:pPr algn="l">
              <a:defRPr sz="1250" b="0">
                <a:solidFill>
                  <a:srgbClr val="1A1A1A"/>
                </a:solidFill>
                <a:latin typeface="Calibri"/>
              </a:defRPr>
            </a:pPr>
            <a:r>
              <a:t>retain8: closed set accuracy on 8 concepts nobody erased, 120 images. This is not a general image quality measure.</a:t>
            </a:r>
          </a:p>
        </p:txBody>
      </p:sp>
      <p:sp>
        <p:nvSpPr>
          <p:cNvPr id="8" name="TextBox 7"/>
          <p:cNvSpPr txBox="1"/>
          <p:nvPr/>
        </p:nvSpPr>
        <p:spPr>
          <a:xfrm>
            <a:off x="713232" y="3675887"/>
            <a:ext cx="5212080" cy="274320"/>
          </a:xfrm>
          <a:prstGeom prst="rect">
            <a:avLst/>
          </a:prstGeom>
          <a:noFill/>
        </p:spPr>
        <p:txBody>
          <a:bodyPr wrap="square">
            <a:spAutoFit/>
          </a:bodyPr>
          <a:lstStyle/>
          <a:p>
            <a:pPr algn="l">
              <a:defRPr sz="1300" b="1">
                <a:solidFill>
                  <a:srgbClr val="9E2A2B"/>
                </a:solidFill>
                <a:latin typeface="Calibri"/>
              </a:defRPr>
            </a:pPr>
            <a:r>
              <a:t>3.  Target recovery after relearning: H</a:t>
            </a:r>
          </a:p>
        </p:txBody>
      </p:sp>
      <p:sp>
        <p:nvSpPr>
          <p:cNvPr id="9" name="TextBox 8"/>
          <p:cNvSpPr txBox="1"/>
          <p:nvPr/>
        </p:nvSpPr>
        <p:spPr>
          <a:xfrm>
            <a:off x="713232" y="3986784"/>
            <a:ext cx="5212080" cy="274320"/>
          </a:xfrm>
          <a:prstGeom prst="rect">
            <a:avLst/>
          </a:prstGeom>
          <a:noFill/>
        </p:spPr>
        <p:txBody>
          <a:bodyPr wrap="square">
            <a:spAutoFit/>
          </a:bodyPr>
          <a:lstStyle/>
          <a:p>
            <a:pPr algn="l">
              <a:defRPr sz="1250" b="0">
                <a:solidFill>
                  <a:srgbClr val="1A1A1A"/>
                </a:solidFill>
                <a:latin typeface="Calibri"/>
              </a:defRPr>
            </a:pPr>
            <a:r>
              <a:t>Fraction of 15 images, from 3 held out prompts the attacker never trained on, that a fixed 12 way CLIP classifier labels as the target. Denominator 15, so H moves in steps of 0.067. Higher H after an attack means more of the concept returned.</a:t>
            </a:r>
          </a:p>
        </p:txBody>
      </p:sp>
      <p:sp>
        <p:nvSpPr>
          <p:cNvPr id="10" name="TextBox 9"/>
          <p:cNvSpPr txBox="1"/>
          <p:nvPr/>
        </p:nvSpPr>
        <p:spPr>
          <a:xfrm>
            <a:off x="6400800" y="1920240"/>
            <a:ext cx="5120640" cy="274320"/>
          </a:xfrm>
          <a:prstGeom prst="rect">
            <a:avLst/>
          </a:prstGeom>
          <a:noFill/>
        </p:spPr>
        <p:txBody>
          <a:bodyPr wrap="square">
            <a:spAutoFit/>
          </a:bodyPr>
          <a:lstStyle/>
          <a:p>
            <a:pPr algn="l">
              <a:defRPr sz="1300" b="1">
                <a:solidFill>
                  <a:srgbClr val="1A1A1A"/>
                </a:solidFill>
                <a:latin typeface="Calibri"/>
              </a:defRPr>
            </a:pPr>
            <a:r>
              <a:t>Setting</a:t>
            </a:r>
          </a:p>
        </p:txBody>
      </p:sp>
      <p:sp>
        <p:nvSpPr>
          <p:cNvPr id="11" name="TextBox 10"/>
          <p:cNvSpPr txBox="1"/>
          <p:nvPr/>
        </p:nvSpPr>
        <p:spPr>
          <a:xfrm>
            <a:off x="6400800" y="2231136"/>
            <a:ext cx="5120640" cy="274320"/>
          </a:xfrm>
          <a:prstGeom prst="rect">
            <a:avLst/>
          </a:prstGeom>
          <a:noFill/>
        </p:spPr>
        <p:txBody>
          <a:bodyPr wrap="square">
            <a:spAutoFit/>
          </a:bodyPr>
          <a:lstStyle/>
          <a:p>
            <a:pPr algn="l">
              <a:defRPr sz="1250" b="0">
                <a:solidFill>
                  <a:srgbClr val="1A1A1A"/>
                </a:solidFill>
                <a:latin typeface="Calibri"/>
              </a:defRPr>
            </a:pPr>
            <a:r>
              <a:t>Base model Stable Diffusion v1.4.  Concepts: church (main), Van Gogh style (second).</a:t>
            </a:r>
          </a:p>
        </p:txBody>
      </p:sp>
      <p:sp>
        <p:nvSpPr>
          <p:cNvPr id="12" name="TextBox 11"/>
          <p:cNvSpPr txBox="1"/>
          <p:nvPr/>
        </p:nvSpPr>
        <p:spPr>
          <a:xfrm>
            <a:off x="6400800" y="2724912"/>
            <a:ext cx="5120640" cy="274320"/>
          </a:xfrm>
          <a:prstGeom prst="rect">
            <a:avLst/>
          </a:prstGeom>
          <a:noFill/>
        </p:spPr>
        <p:txBody>
          <a:bodyPr wrap="square">
            <a:spAutoFit/>
          </a:bodyPr>
          <a:lstStyle/>
          <a:p>
            <a:pPr algn="l">
              <a:defRPr sz="1250" b="0">
                <a:solidFill>
                  <a:srgbClr val="1A1A1A"/>
                </a:solidFill>
                <a:latin typeface="Calibri"/>
              </a:defRPr>
            </a:pPr>
            <a:r>
              <a:t>Attack: fine tuning on generated images of the concept. Budgets 10, 25, 50 and 100 steps. Attacker learning rates 1e-5, 5e-5 and 1e-4.</a:t>
            </a:r>
          </a:p>
        </p:txBody>
      </p:sp>
      <p:sp>
        <p:nvSpPr>
          <p:cNvPr id="13" name="TextBox 12"/>
          <p:cNvSpPr txBox="1"/>
          <p:nvPr/>
        </p:nvSpPr>
        <p:spPr>
          <a:xfrm>
            <a:off x="6400800" y="3419856"/>
            <a:ext cx="5120640" cy="274320"/>
          </a:xfrm>
          <a:prstGeom prst="rect">
            <a:avLst/>
          </a:prstGeom>
          <a:noFill/>
        </p:spPr>
        <p:txBody>
          <a:bodyPr wrap="square">
            <a:spAutoFit/>
          </a:bodyPr>
          <a:lstStyle/>
          <a:p>
            <a:pPr algn="l">
              <a:defRPr sz="1250" b="0">
                <a:solidFill>
                  <a:srgbClr val="1A1A1A"/>
                </a:solidFill>
                <a:latin typeface="Calibri"/>
              </a:defRPr>
            </a:pPr>
            <a:r>
              <a:t>3 independent defence builds per UTRAP arm, 3 attack seeds per cell.</a:t>
            </a:r>
          </a:p>
        </p:txBody>
      </p:sp>
      <p:sp>
        <p:nvSpPr>
          <p:cNvPr id="14" name="TextBox 13"/>
          <p:cNvSpPr txBox="1"/>
          <p:nvPr/>
        </p:nvSpPr>
        <p:spPr>
          <a:xfrm>
            <a:off x="6400800" y="3913632"/>
            <a:ext cx="5120640" cy="274320"/>
          </a:xfrm>
          <a:prstGeom prst="rect">
            <a:avLst/>
          </a:prstGeom>
          <a:noFill/>
        </p:spPr>
        <p:txBody>
          <a:bodyPr wrap="square">
            <a:spAutoFit/>
          </a:bodyPr>
          <a:lstStyle/>
          <a:p>
            <a:pPr algn="l">
              <a:defRPr sz="1300" b="1">
                <a:solidFill>
                  <a:srgbClr val="1A1A1A"/>
                </a:solidFill>
                <a:latin typeface="Calibri"/>
              </a:defRPr>
            </a:pPr>
            <a:r>
              <a:t>Validity gate</a:t>
            </a:r>
          </a:p>
        </p:txBody>
      </p:sp>
      <p:sp>
        <p:nvSpPr>
          <p:cNvPr id="15" name="TextBox 14"/>
          <p:cNvSpPr txBox="1"/>
          <p:nvPr/>
        </p:nvSpPr>
        <p:spPr>
          <a:xfrm>
            <a:off x="6400800" y="4224528"/>
            <a:ext cx="5120640" cy="274320"/>
          </a:xfrm>
          <a:prstGeom prst="rect">
            <a:avLst/>
          </a:prstGeom>
          <a:noFill/>
        </p:spPr>
        <p:txBody>
          <a:bodyPr wrap="square">
            <a:spAutoFit/>
          </a:bodyPr>
          <a:lstStyle/>
          <a:p>
            <a:pPr algn="l">
              <a:defRPr sz="1250" b="0">
                <a:solidFill>
                  <a:srgbClr val="1A1A1A"/>
                </a:solidFill>
                <a:latin typeface="Calibri"/>
              </a:defRPr>
            </a:pPr>
            <a:r>
              <a:t>An attack counts only if it demonstrably relearned its own training prompts. Failed gates are reported as inconclusive, never as successful defence.</a:t>
            </a:r>
          </a:p>
        </p:txBody>
      </p:sp>
      <p:sp>
        <p:nvSpPr>
          <p:cNvPr id="16" name="TextBox 15"/>
          <p:cNvSpPr txBox="1"/>
          <p:nvPr/>
        </p:nvSpPr>
        <p:spPr>
          <a:xfrm>
            <a:off x="6400800" y="4956048"/>
            <a:ext cx="5120640" cy="274320"/>
          </a:xfrm>
          <a:prstGeom prst="rect">
            <a:avLst/>
          </a:prstGeom>
          <a:noFill/>
        </p:spPr>
        <p:txBody>
          <a:bodyPr wrap="square">
            <a:spAutoFit/>
          </a:bodyPr>
          <a:lstStyle/>
          <a:p>
            <a:pPr algn="l">
              <a:defRPr sz="1300" b="1">
                <a:solidFill>
                  <a:srgbClr val="1A1A1A"/>
                </a:solidFill>
                <a:latin typeface="Calibri"/>
              </a:defRPr>
            </a:pPr>
            <a:r>
              <a:t>Provenance labels used throughout</a:t>
            </a:r>
          </a:p>
        </p:txBody>
      </p:sp>
      <p:sp>
        <p:nvSpPr>
          <p:cNvPr id="17" name="TextBox 16"/>
          <p:cNvSpPr txBox="1"/>
          <p:nvPr/>
        </p:nvSpPr>
        <p:spPr>
          <a:xfrm>
            <a:off x="6400800" y="5266944"/>
            <a:ext cx="5120640" cy="274320"/>
          </a:xfrm>
          <a:prstGeom prst="rect">
            <a:avLst/>
          </a:prstGeom>
          <a:noFill/>
        </p:spPr>
        <p:txBody>
          <a:bodyPr wrap="square">
            <a:spAutoFit/>
          </a:bodyPr>
          <a:lstStyle/>
          <a:p>
            <a:pPr algn="l">
              <a:defRPr sz="1200" b="0">
                <a:solidFill>
                  <a:srgbClr val="666666"/>
                </a:solidFill>
                <a:latin typeface="Calibri"/>
              </a:defRPr>
            </a:pPr>
            <a:r>
              <a:t>official code execution   |   from paper port   |   domain adaptation   |   our method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384048"/>
            <a:ext cx="10911535" cy="731520"/>
          </a:xfrm>
          <a:prstGeom prst="rect">
            <a:avLst/>
          </a:prstGeom>
          <a:noFill/>
        </p:spPr>
        <p:txBody>
          <a:bodyPr wrap="none">
            <a:spAutoFit/>
          </a:bodyPr>
          <a:lstStyle/>
          <a:p>
            <a:pPr>
              <a:defRPr sz="2600" b="1">
                <a:solidFill>
                  <a:srgbClr val="1A1A1A"/>
                </a:solidFill>
                <a:latin typeface="Calibri"/>
              </a:defRPr>
            </a:pPr>
            <a:r>
              <a:t>What forgetting looks like</a:t>
            </a:r>
          </a:p>
        </p:txBody>
      </p:sp>
      <p:sp>
        <p:nvSpPr>
          <p:cNvPr id="3" name="TextBox 2"/>
          <p:cNvSpPr txBox="1"/>
          <p:nvPr/>
        </p:nvSpPr>
        <p:spPr>
          <a:xfrm>
            <a:off x="713232" y="1426464"/>
            <a:ext cx="10789920" cy="274320"/>
          </a:xfrm>
          <a:prstGeom prst="rect">
            <a:avLst/>
          </a:prstGeom>
          <a:noFill/>
        </p:spPr>
        <p:txBody>
          <a:bodyPr wrap="square">
            <a:spAutoFit/>
          </a:bodyPr>
          <a:lstStyle/>
          <a:p>
            <a:pPr algn="l">
              <a:defRPr sz="1250" b="0">
                <a:solidFill>
                  <a:srgbClr val="666666"/>
                </a:solidFill>
                <a:latin typeface="Calibri"/>
              </a:defRPr>
            </a:pPr>
            <a:r>
              <a:t>Same prompt, same generator seed 0, 25 sampling steps, guidance 7.5, 512x512. Only the weights differ.</a:t>
            </a:r>
          </a:p>
        </p:txBody>
      </p:sp>
      <p:sp>
        <p:nvSpPr>
          <p:cNvPr id="4" name="TextBox 3"/>
          <p:cNvSpPr txBox="1"/>
          <p:nvPr/>
        </p:nvSpPr>
        <p:spPr>
          <a:xfrm>
            <a:off x="2148840" y="1755648"/>
            <a:ext cx="1645920" cy="274320"/>
          </a:xfrm>
          <a:prstGeom prst="rect">
            <a:avLst/>
          </a:prstGeom>
          <a:noFill/>
        </p:spPr>
        <p:txBody>
          <a:bodyPr wrap="square">
            <a:spAutoFit/>
          </a:bodyPr>
          <a:lstStyle/>
          <a:p>
            <a:pPr algn="ctr">
              <a:defRPr sz="1050" b="1">
                <a:solidFill>
                  <a:srgbClr val="1A1A1A"/>
                </a:solidFill>
                <a:latin typeface="Calibri"/>
              </a:defRPr>
            </a:pPr>
            <a:r>
              <a:t>SD-1.4</a:t>
            </a:r>
          </a:p>
          <a:p>
            <a:pPr algn="ctr">
              <a:defRPr sz="1050" b="1">
                <a:solidFill>
                  <a:srgbClr val="1A1A1A"/>
                </a:solidFill>
                <a:latin typeface="Calibri"/>
              </a:defRPr>
            </a:pPr>
            <a:r>
              <a:t>(original)</a:t>
            </a:r>
          </a:p>
        </p:txBody>
      </p:sp>
      <p:sp>
        <p:nvSpPr>
          <p:cNvPr id="5" name="TextBox 4"/>
          <p:cNvSpPr txBox="1"/>
          <p:nvPr/>
        </p:nvSpPr>
        <p:spPr>
          <a:xfrm>
            <a:off x="3950208" y="1755648"/>
            <a:ext cx="1645920" cy="274320"/>
          </a:xfrm>
          <a:prstGeom prst="rect">
            <a:avLst/>
          </a:prstGeom>
          <a:noFill/>
        </p:spPr>
        <p:txBody>
          <a:bodyPr wrap="square">
            <a:spAutoFit/>
          </a:bodyPr>
          <a:lstStyle/>
          <a:p>
            <a:pPr algn="ctr">
              <a:defRPr sz="1050" b="1">
                <a:solidFill>
                  <a:srgbClr val="1A1A1A"/>
                </a:solidFill>
                <a:latin typeface="Calibri"/>
              </a:defRPr>
            </a:pPr>
            <a:r>
              <a:t>ESD</a:t>
            </a:r>
          </a:p>
          <a:p>
            <a:pPr algn="ctr">
              <a:defRPr sz="1050" b="1">
                <a:solidFill>
                  <a:srgbClr val="1A1A1A"/>
                </a:solidFill>
                <a:latin typeface="Calibri"/>
              </a:defRPr>
            </a:pPr>
            <a:r>
              <a:t>(port)</a:t>
            </a:r>
          </a:p>
        </p:txBody>
      </p:sp>
      <p:sp>
        <p:nvSpPr>
          <p:cNvPr id="6" name="TextBox 5"/>
          <p:cNvSpPr txBox="1"/>
          <p:nvPr/>
        </p:nvSpPr>
        <p:spPr>
          <a:xfrm>
            <a:off x="5751576" y="1755648"/>
            <a:ext cx="1645920" cy="274320"/>
          </a:xfrm>
          <a:prstGeom prst="rect">
            <a:avLst/>
          </a:prstGeom>
          <a:noFill/>
        </p:spPr>
        <p:txBody>
          <a:bodyPr wrap="square">
            <a:spAutoFit/>
          </a:bodyPr>
          <a:lstStyle/>
          <a:p>
            <a:pPr algn="ctr">
              <a:defRPr sz="1050" b="1">
                <a:solidFill>
                  <a:srgbClr val="1A1A1A"/>
                </a:solidFill>
                <a:latin typeface="Calibri"/>
              </a:defRPr>
            </a:pPr>
            <a:r>
              <a:t>FRAG/FRP</a:t>
            </a:r>
          </a:p>
          <a:p>
            <a:pPr algn="ctr">
              <a:defRPr sz="1050" b="1">
                <a:solidFill>
                  <a:srgbClr val="1A1A1A"/>
                </a:solidFill>
                <a:latin typeface="Calibri"/>
              </a:defRPr>
            </a:pPr>
            <a:r>
              <a:t>(port)</a:t>
            </a:r>
          </a:p>
        </p:txBody>
      </p:sp>
      <p:sp>
        <p:nvSpPr>
          <p:cNvPr id="7" name="TextBox 6"/>
          <p:cNvSpPr txBox="1"/>
          <p:nvPr/>
        </p:nvSpPr>
        <p:spPr>
          <a:xfrm>
            <a:off x="7552944" y="1755648"/>
            <a:ext cx="1645920" cy="274320"/>
          </a:xfrm>
          <a:prstGeom prst="rect">
            <a:avLst/>
          </a:prstGeom>
          <a:noFill/>
        </p:spPr>
        <p:txBody>
          <a:bodyPr wrap="square">
            <a:spAutoFit/>
          </a:bodyPr>
          <a:lstStyle/>
          <a:p>
            <a:pPr algn="ctr">
              <a:defRPr sz="1050" b="1">
                <a:solidFill>
                  <a:srgbClr val="1A1A1A"/>
                </a:solidFill>
                <a:latin typeface="Calibri"/>
              </a:defRPr>
            </a:pPr>
            <a:r>
              <a:t>UTRAP K=0</a:t>
            </a:r>
          </a:p>
          <a:p>
            <a:pPr algn="ctr">
              <a:defRPr sz="1050" b="1">
                <a:solidFill>
                  <a:srgbClr val="1A1A1A"/>
                </a:solidFill>
                <a:latin typeface="Calibri"/>
              </a:defRPr>
            </a:pPr>
            <a:r>
              <a:t>(ours)</a:t>
            </a:r>
          </a:p>
        </p:txBody>
      </p:sp>
      <p:sp>
        <p:nvSpPr>
          <p:cNvPr id="8" name="TextBox 7"/>
          <p:cNvSpPr txBox="1"/>
          <p:nvPr/>
        </p:nvSpPr>
        <p:spPr>
          <a:xfrm>
            <a:off x="9354312" y="1755648"/>
            <a:ext cx="1645920" cy="274320"/>
          </a:xfrm>
          <a:prstGeom prst="rect">
            <a:avLst/>
          </a:prstGeom>
          <a:noFill/>
        </p:spPr>
        <p:txBody>
          <a:bodyPr wrap="square">
            <a:spAutoFit/>
          </a:bodyPr>
          <a:lstStyle/>
          <a:p>
            <a:pPr algn="ctr">
              <a:defRPr sz="1050" b="1">
                <a:solidFill>
                  <a:srgbClr val="1A1A1A"/>
                </a:solidFill>
                <a:latin typeface="Calibri"/>
              </a:defRPr>
            </a:pPr>
            <a:r>
              <a:t>UTRAP K=8</a:t>
            </a:r>
          </a:p>
          <a:p>
            <a:pPr algn="ctr">
              <a:defRPr sz="1050" b="1">
                <a:solidFill>
                  <a:srgbClr val="1A1A1A"/>
                </a:solidFill>
                <a:latin typeface="Calibri"/>
              </a:defRPr>
            </a:pPr>
            <a:r>
              <a:t>(ours)</a:t>
            </a:r>
          </a:p>
        </p:txBody>
      </p:sp>
      <p:sp>
        <p:nvSpPr>
          <p:cNvPr id="9" name="TextBox 8"/>
          <p:cNvSpPr txBox="1"/>
          <p:nvPr/>
        </p:nvSpPr>
        <p:spPr>
          <a:xfrm>
            <a:off x="704088" y="2907791"/>
            <a:ext cx="1371600" cy="274320"/>
          </a:xfrm>
          <a:prstGeom prst="rect">
            <a:avLst/>
          </a:prstGeom>
          <a:noFill/>
        </p:spPr>
        <p:txBody>
          <a:bodyPr wrap="square">
            <a:spAutoFit/>
          </a:bodyPr>
          <a:lstStyle/>
          <a:p>
            <a:pPr algn="r">
              <a:defRPr sz="1050" b="0">
                <a:solidFill>
                  <a:srgbClr val="666666"/>
                </a:solidFill>
                <a:latin typeface="Calibri"/>
              </a:defRPr>
            </a:pPr>
            <a:r>
              <a:t>target prompt</a:t>
            </a:r>
          </a:p>
          <a:p>
            <a:pPr algn="r">
              <a:defRPr sz="1050" b="0">
                <a:solidFill>
                  <a:srgbClr val="666666"/>
                </a:solidFill>
                <a:latin typeface="Calibri"/>
              </a:defRPr>
            </a:pPr>
            <a:r>
              <a:t>"a photo of a church"</a:t>
            </a:r>
          </a:p>
        </p:txBody>
      </p:sp>
      <p:pic>
        <p:nvPicPr>
          <p:cNvPr id="10" name="Picture 9" descr="base__church_target__i0.png"/>
          <p:cNvPicPr>
            <a:picLocks noChangeAspect="1"/>
          </p:cNvPicPr>
          <p:nvPr/>
        </p:nvPicPr>
        <p:blipFill>
          <a:blip r:embed="rId2"/>
          <a:stretch>
            <a:fillRect/>
          </a:stretch>
        </p:blipFill>
        <p:spPr>
          <a:xfrm>
            <a:off x="2148840" y="2286000"/>
            <a:ext cx="1645920" cy="1645920"/>
          </a:xfrm>
          <a:prstGeom prst="rect">
            <a:avLst/>
          </a:prstGeom>
        </p:spPr>
      </p:pic>
      <p:pic>
        <p:nvPicPr>
          <p:cNvPr id="11" name="Picture 10" descr="esd__church_target__i0.png"/>
          <p:cNvPicPr>
            <a:picLocks noChangeAspect="1"/>
          </p:cNvPicPr>
          <p:nvPr/>
        </p:nvPicPr>
        <p:blipFill>
          <a:blip r:embed="rId3"/>
          <a:stretch>
            <a:fillRect/>
          </a:stretch>
        </p:blipFill>
        <p:spPr>
          <a:xfrm>
            <a:off x="3950208" y="2286000"/>
            <a:ext cx="1645920" cy="1645920"/>
          </a:xfrm>
          <a:prstGeom prst="rect">
            <a:avLst/>
          </a:prstGeom>
        </p:spPr>
      </p:pic>
      <p:pic>
        <p:nvPicPr>
          <p:cNvPr id="12" name="Picture 11" descr="frp__church_target__i0.png"/>
          <p:cNvPicPr>
            <a:picLocks noChangeAspect="1"/>
          </p:cNvPicPr>
          <p:nvPr/>
        </p:nvPicPr>
        <p:blipFill>
          <a:blip r:embed="rId4"/>
          <a:stretch>
            <a:fillRect/>
          </a:stretch>
        </p:blipFill>
        <p:spPr>
          <a:xfrm>
            <a:off x="5751576" y="2286000"/>
            <a:ext cx="1645920" cy="1645920"/>
          </a:xfrm>
          <a:prstGeom prst="rect">
            <a:avLst/>
          </a:prstGeom>
        </p:spPr>
      </p:pic>
      <p:pic>
        <p:nvPicPr>
          <p:cNvPr id="13" name="Picture 12" descr="utrap_k0__church_target__i0.png"/>
          <p:cNvPicPr>
            <a:picLocks noChangeAspect="1"/>
          </p:cNvPicPr>
          <p:nvPr/>
        </p:nvPicPr>
        <p:blipFill>
          <a:blip r:embed="rId5"/>
          <a:stretch>
            <a:fillRect/>
          </a:stretch>
        </p:blipFill>
        <p:spPr>
          <a:xfrm>
            <a:off x="7552944" y="2286000"/>
            <a:ext cx="1645920" cy="1645920"/>
          </a:xfrm>
          <a:prstGeom prst="rect">
            <a:avLst/>
          </a:prstGeom>
        </p:spPr>
      </p:pic>
      <p:pic>
        <p:nvPicPr>
          <p:cNvPr id="14" name="Picture 13" descr="utrap_k8__church_target__i0.png"/>
          <p:cNvPicPr>
            <a:picLocks noChangeAspect="1"/>
          </p:cNvPicPr>
          <p:nvPr/>
        </p:nvPicPr>
        <p:blipFill>
          <a:blip r:embed="rId6"/>
          <a:stretch>
            <a:fillRect/>
          </a:stretch>
        </p:blipFill>
        <p:spPr>
          <a:xfrm>
            <a:off x="9354312" y="2286000"/>
            <a:ext cx="1645920" cy="1645920"/>
          </a:xfrm>
          <a:prstGeom prst="rect">
            <a:avLst/>
          </a:prstGeom>
        </p:spPr>
      </p:pic>
      <p:sp>
        <p:nvSpPr>
          <p:cNvPr id="15" name="TextBox 14"/>
          <p:cNvSpPr txBox="1"/>
          <p:nvPr/>
        </p:nvSpPr>
        <p:spPr>
          <a:xfrm>
            <a:off x="704088" y="4791456"/>
            <a:ext cx="1371600" cy="274320"/>
          </a:xfrm>
          <a:prstGeom prst="rect">
            <a:avLst/>
          </a:prstGeom>
          <a:noFill/>
        </p:spPr>
        <p:txBody>
          <a:bodyPr wrap="square">
            <a:spAutoFit/>
          </a:bodyPr>
          <a:lstStyle/>
          <a:p>
            <a:pPr algn="r">
              <a:defRPr sz="1050" b="0">
                <a:solidFill>
                  <a:srgbClr val="666666"/>
                </a:solidFill>
                <a:latin typeface="Calibri"/>
              </a:defRPr>
            </a:pPr>
            <a:r>
              <a:t>unrelated prompt</a:t>
            </a:r>
          </a:p>
          <a:p>
            <a:pPr algn="r">
              <a:defRPr sz="1050" b="0">
                <a:solidFill>
                  <a:srgbClr val="666666"/>
                </a:solidFill>
                <a:latin typeface="Calibri"/>
              </a:defRPr>
            </a:pPr>
            <a:r>
              <a:t>(never erased)</a:t>
            </a:r>
          </a:p>
        </p:txBody>
      </p:sp>
      <p:pic>
        <p:nvPicPr>
          <p:cNvPr id="16" name="Picture 15" descr="base__retained_golf__i0.png"/>
          <p:cNvPicPr>
            <a:picLocks noChangeAspect="1"/>
          </p:cNvPicPr>
          <p:nvPr/>
        </p:nvPicPr>
        <p:blipFill>
          <a:blip r:embed="rId7"/>
          <a:stretch>
            <a:fillRect/>
          </a:stretch>
        </p:blipFill>
        <p:spPr>
          <a:xfrm>
            <a:off x="2148840" y="4169664"/>
            <a:ext cx="1645920" cy="1645920"/>
          </a:xfrm>
          <a:prstGeom prst="rect">
            <a:avLst/>
          </a:prstGeom>
        </p:spPr>
      </p:pic>
      <p:pic>
        <p:nvPicPr>
          <p:cNvPr id="17" name="Picture 16" descr="esd__retained_golf__i0.png"/>
          <p:cNvPicPr>
            <a:picLocks noChangeAspect="1"/>
          </p:cNvPicPr>
          <p:nvPr/>
        </p:nvPicPr>
        <p:blipFill>
          <a:blip r:embed="rId8"/>
          <a:stretch>
            <a:fillRect/>
          </a:stretch>
        </p:blipFill>
        <p:spPr>
          <a:xfrm>
            <a:off x="3950208" y="4169664"/>
            <a:ext cx="1645920" cy="1645920"/>
          </a:xfrm>
          <a:prstGeom prst="rect">
            <a:avLst/>
          </a:prstGeom>
        </p:spPr>
      </p:pic>
      <p:pic>
        <p:nvPicPr>
          <p:cNvPr id="18" name="Picture 17" descr="frp__retained_golf__i0.png"/>
          <p:cNvPicPr>
            <a:picLocks noChangeAspect="1"/>
          </p:cNvPicPr>
          <p:nvPr/>
        </p:nvPicPr>
        <p:blipFill>
          <a:blip r:embed="rId9"/>
          <a:stretch>
            <a:fillRect/>
          </a:stretch>
        </p:blipFill>
        <p:spPr>
          <a:xfrm>
            <a:off x="5751576" y="4169664"/>
            <a:ext cx="1645920" cy="1645920"/>
          </a:xfrm>
          <a:prstGeom prst="rect">
            <a:avLst/>
          </a:prstGeom>
        </p:spPr>
      </p:pic>
      <p:pic>
        <p:nvPicPr>
          <p:cNvPr id="19" name="Picture 18" descr="utrap_k0__retained_golf__i0.png"/>
          <p:cNvPicPr>
            <a:picLocks noChangeAspect="1"/>
          </p:cNvPicPr>
          <p:nvPr/>
        </p:nvPicPr>
        <p:blipFill>
          <a:blip r:embed="rId10"/>
          <a:stretch>
            <a:fillRect/>
          </a:stretch>
        </p:blipFill>
        <p:spPr>
          <a:xfrm>
            <a:off x="7552944" y="4169664"/>
            <a:ext cx="1645920" cy="1645920"/>
          </a:xfrm>
          <a:prstGeom prst="rect">
            <a:avLst/>
          </a:prstGeom>
        </p:spPr>
      </p:pic>
      <p:pic>
        <p:nvPicPr>
          <p:cNvPr id="20" name="Picture 19" descr="utrap_k8__retained_golf__i0.png"/>
          <p:cNvPicPr>
            <a:picLocks noChangeAspect="1"/>
          </p:cNvPicPr>
          <p:nvPr/>
        </p:nvPicPr>
        <p:blipFill>
          <a:blip r:embed="rId11"/>
          <a:stretch>
            <a:fillRect/>
          </a:stretch>
        </p:blipFill>
        <p:spPr>
          <a:xfrm>
            <a:off x="9354312" y="4169664"/>
            <a:ext cx="1645920" cy="1645920"/>
          </a:xfrm>
          <a:prstGeom prst="rect">
            <a:avLst/>
          </a:prstGeom>
        </p:spPr>
      </p:pic>
      <p:sp>
        <p:nvSpPr>
          <p:cNvPr id="21" name="TextBox 20"/>
          <p:cNvSpPr txBox="1"/>
          <p:nvPr/>
        </p:nvSpPr>
        <p:spPr>
          <a:xfrm>
            <a:off x="713232" y="5961888"/>
            <a:ext cx="10789920" cy="274320"/>
          </a:xfrm>
          <a:prstGeom prst="rect">
            <a:avLst/>
          </a:prstGeom>
          <a:noFill/>
        </p:spPr>
        <p:txBody>
          <a:bodyPr wrap="square">
            <a:spAutoFit/>
          </a:bodyPr>
          <a:lstStyle/>
          <a:p>
            <a:pPr algn="ctr">
              <a:defRPr sz="1050" b="0">
                <a:solidFill>
                  <a:srgbClr val="666666"/>
                </a:solidFill>
                <a:latin typeface="Calibri"/>
              </a:defRPr>
            </a:pPr>
            <a:r>
              <a:t>Top row: the erased concept. Bottom row: a concept no method targeted, as the specificity control.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384048"/>
            <a:ext cx="10911535" cy="731520"/>
          </a:xfrm>
          <a:prstGeom prst="rect">
            <a:avLst/>
          </a:prstGeom>
          <a:noFill/>
        </p:spPr>
        <p:txBody>
          <a:bodyPr wrap="none">
            <a:spAutoFit/>
          </a:bodyPr>
          <a:lstStyle/>
          <a:p>
            <a:pPr>
              <a:defRPr sz="2600" b="1">
                <a:solidFill>
                  <a:srgbClr val="1A1A1A"/>
                </a:solidFill>
                <a:latin typeface="Calibri"/>
              </a:defRPr>
            </a:pPr>
            <a:r>
              <a:t>The same comparison across every method we hold</a:t>
            </a:r>
          </a:p>
        </p:txBody>
      </p:sp>
      <p:sp>
        <p:nvSpPr>
          <p:cNvPr id="3" name="TextBox 2"/>
          <p:cNvSpPr txBox="1"/>
          <p:nvPr/>
        </p:nvSpPr>
        <p:spPr>
          <a:xfrm>
            <a:off x="713232" y="1426464"/>
            <a:ext cx="10789920" cy="274320"/>
          </a:xfrm>
          <a:prstGeom prst="rect">
            <a:avLst/>
          </a:prstGeom>
          <a:noFill/>
        </p:spPr>
        <p:txBody>
          <a:bodyPr wrap="square">
            <a:spAutoFit/>
          </a:bodyPr>
          <a:lstStyle/>
          <a:p>
            <a:pPr algn="l">
              <a:defRPr sz="1250" b="0">
                <a:solidFill>
                  <a:srgbClr val="666666"/>
                </a:solidFill>
                <a:latin typeface="Calibri"/>
              </a:defRPr>
            </a:pPr>
            <a:r>
              <a:t>Identical generation settings. Method families with known implementation defects are excluded and named below.</a:t>
            </a:r>
          </a:p>
        </p:txBody>
      </p:sp>
      <p:sp>
        <p:nvSpPr>
          <p:cNvPr id="4" name="TextBox 3"/>
          <p:cNvSpPr txBox="1"/>
          <p:nvPr/>
        </p:nvSpPr>
        <p:spPr>
          <a:xfrm>
            <a:off x="2148840" y="1755648"/>
            <a:ext cx="1645920" cy="274320"/>
          </a:xfrm>
          <a:prstGeom prst="rect">
            <a:avLst/>
          </a:prstGeom>
          <a:noFill/>
        </p:spPr>
        <p:txBody>
          <a:bodyPr wrap="square">
            <a:spAutoFit/>
          </a:bodyPr>
          <a:lstStyle/>
          <a:p>
            <a:pPr algn="ctr">
              <a:defRPr sz="1050" b="1">
                <a:solidFill>
                  <a:srgbClr val="1A1A1A"/>
                </a:solidFill>
                <a:latin typeface="Calibri"/>
              </a:defRPr>
            </a:pPr>
            <a:r>
              <a:t>SD-1.4</a:t>
            </a:r>
          </a:p>
          <a:p>
            <a:pPr algn="ctr">
              <a:defRPr sz="1050" b="1">
                <a:solidFill>
                  <a:srgbClr val="1A1A1A"/>
                </a:solidFill>
                <a:latin typeface="Calibri"/>
              </a:defRPr>
            </a:pPr>
            <a:r>
              <a:t>(original)</a:t>
            </a:r>
          </a:p>
        </p:txBody>
      </p:sp>
      <p:sp>
        <p:nvSpPr>
          <p:cNvPr id="5" name="TextBox 4"/>
          <p:cNvSpPr txBox="1"/>
          <p:nvPr/>
        </p:nvSpPr>
        <p:spPr>
          <a:xfrm>
            <a:off x="3950208" y="1755648"/>
            <a:ext cx="1645920" cy="274320"/>
          </a:xfrm>
          <a:prstGeom prst="rect">
            <a:avLst/>
          </a:prstGeom>
          <a:noFill/>
        </p:spPr>
        <p:txBody>
          <a:bodyPr wrap="square">
            <a:spAutoFit/>
          </a:bodyPr>
          <a:lstStyle/>
          <a:p>
            <a:pPr algn="ctr">
              <a:defRPr sz="1050" b="1">
                <a:solidFill>
                  <a:srgbClr val="1A1A1A"/>
                </a:solidFill>
                <a:latin typeface="Calibri"/>
              </a:defRPr>
            </a:pPr>
            <a:r>
              <a:t>UCE</a:t>
            </a:r>
          </a:p>
          <a:p>
            <a:pPr algn="ctr">
              <a:defRPr sz="1050" b="1">
                <a:solidFill>
                  <a:srgbClr val="1A1A1A"/>
                </a:solidFill>
                <a:latin typeface="Calibri"/>
              </a:defRPr>
            </a:pPr>
            <a:r>
              <a:t>(port)</a:t>
            </a:r>
          </a:p>
        </p:txBody>
      </p:sp>
      <p:sp>
        <p:nvSpPr>
          <p:cNvPr id="6" name="TextBox 5"/>
          <p:cNvSpPr txBox="1"/>
          <p:nvPr/>
        </p:nvSpPr>
        <p:spPr>
          <a:xfrm>
            <a:off x="5751576" y="1755648"/>
            <a:ext cx="1645920" cy="274320"/>
          </a:xfrm>
          <a:prstGeom prst="rect">
            <a:avLst/>
          </a:prstGeom>
          <a:noFill/>
        </p:spPr>
        <p:txBody>
          <a:bodyPr wrap="square">
            <a:spAutoFit/>
          </a:bodyPr>
          <a:lstStyle/>
          <a:p>
            <a:pPr algn="ctr">
              <a:defRPr sz="1050" b="1">
                <a:solidFill>
                  <a:srgbClr val="1A1A1A"/>
                </a:solidFill>
                <a:latin typeface="Calibri"/>
              </a:defRPr>
            </a:pPr>
            <a:r>
              <a:t>GIFT</a:t>
            </a:r>
          </a:p>
          <a:p>
            <a:pPr algn="ctr">
              <a:defRPr sz="1050" b="1">
                <a:solidFill>
                  <a:srgbClr val="1A1A1A"/>
                </a:solidFill>
                <a:latin typeface="Calibri"/>
              </a:defRPr>
            </a:pPr>
            <a:r>
              <a:t>(port)</a:t>
            </a:r>
          </a:p>
        </p:txBody>
      </p:sp>
      <p:sp>
        <p:nvSpPr>
          <p:cNvPr id="7" name="TextBox 6"/>
          <p:cNvSpPr txBox="1"/>
          <p:nvPr/>
        </p:nvSpPr>
        <p:spPr>
          <a:xfrm>
            <a:off x="7552944" y="1755648"/>
            <a:ext cx="1645920" cy="274320"/>
          </a:xfrm>
          <a:prstGeom prst="rect">
            <a:avLst/>
          </a:prstGeom>
          <a:noFill/>
        </p:spPr>
        <p:txBody>
          <a:bodyPr wrap="square">
            <a:spAutoFit/>
          </a:bodyPr>
          <a:lstStyle/>
          <a:p>
            <a:pPr algn="ctr">
              <a:defRPr sz="1050" b="1">
                <a:solidFill>
                  <a:srgbClr val="1A1A1A"/>
                </a:solidFill>
                <a:latin typeface="Calibri"/>
              </a:defRPr>
            </a:pPr>
            <a:r>
              <a:t>IMMA</a:t>
            </a:r>
          </a:p>
          <a:p>
            <a:pPr algn="ctr">
              <a:defRPr sz="1050" b="1">
                <a:solidFill>
                  <a:srgbClr val="1A1A1A"/>
                </a:solidFill>
                <a:latin typeface="Calibri"/>
              </a:defRPr>
            </a:pPr>
            <a:r>
              <a:t>(adapted)</a:t>
            </a:r>
          </a:p>
        </p:txBody>
      </p:sp>
      <p:sp>
        <p:nvSpPr>
          <p:cNvPr id="8" name="TextBox 7"/>
          <p:cNvSpPr txBox="1"/>
          <p:nvPr/>
        </p:nvSpPr>
        <p:spPr>
          <a:xfrm>
            <a:off x="9354312" y="1755648"/>
            <a:ext cx="1645920" cy="274320"/>
          </a:xfrm>
          <a:prstGeom prst="rect">
            <a:avLst/>
          </a:prstGeom>
          <a:noFill/>
        </p:spPr>
        <p:txBody>
          <a:bodyPr wrap="square">
            <a:spAutoFit/>
          </a:bodyPr>
          <a:lstStyle/>
          <a:p>
            <a:pPr algn="ctr">
              <a:defRPr sz="1050" b="1">
                <a:solidFill>
                  <a:srgbClr val="1A1A1A"/>
                </a:solidFill>
                <a:latin typeface="Calibri"/>
              </a:defRPr>
            </a:pPr>
            <a:r>
              <a:t>UTRAP K=8</a:t>
            </a:r>
          </a:p>
          <a:p>
            <a:pPr algn="ctr">
              <a:defRPr sz="1050" b="1">
                <a:solidFill>
                  <a:srgbClr val="1A1A1A"/>
                </a:solidFill>
                <a:latin typeface="Calibri"/>
              </a:defRPr>
            </a:pPr>
            <a:r>
              <a:t>(ours)</a:t>
            </a:r>
          </a:p>
        </p:txBody>
      </p:sp>
      <p:sp>
        <p:nvSpPr>
          <p:cNvPr id="9" name="TextBox 8"/>
          <p:cNvSpPr txBox="1"/>
          <p:nvPr/>
        </p:nvSpPr>
        <p:spPr>
          <a:xfrm>
            <a:off x="704088" y="2907791"/>
            <a:ext cx="1371600" cy="274320"/>
          </a:xfrm>
          <a:prstGeom prst="rect">
            <a:avLst/>
          </a:prstGeom>
          <a:noFill/>
        </p:spPr>
        <p:txBody>
          <a:bodyPr wrap="square">
            <a:spAutoFit/>
          </a:bodyPr>
          <a:lstStyle/>
          <a:p>
            <a:pPr algn="r">
              <a:defRPr sz="1050" b="0">
                <a:solidFill>
                  <a:srgbClr val="666666"/>
                </a:solidFill>
                <a:latin typeface="Calibri"/>
              </a:defRPr>
            </a:pPr>
            <a:r>
              <a:t>target prompt</a:t>
            </a:r>
          </a:p>
          <a:p>
            <a:pPr algn="r">
              <a:defRPr sz="1050" b="0">
                <a:solidFill>
                  <a:srgbClr val="666666"/>
                </a:solidFill>
                <a:latin typeface="Calibri"/>
              </a:defRPr>
            </a:pPr>
            <a:r>
              <a:t>"a photo of a church"</a:t>
            </a:r>
          </a:p>
        </p:txBody>
      </p:sp>
      <p:pic>
        <p:nvPicPr>
          <p:cNvPr id="10" name="Picture 9" descr="base__church_target__i0.png"/>
          <p:cNvPicPr>
            <a:picLocks noChangeAspect="1"/>
          </p:cNvPicPr>
          <p:nvPr/>
        </p:nvPicPr>
        <p:blipFill>
          <a:blip r:embed="rId2"/>
          <a:stretch>
            <a:fillRect/>
          </a:stretch>
        </p:blipFill>
        <p:spPr>
          <a:xfrm>
            <a:off x="2148840" y="2286000"/>
            <a:ext cx="1645920" cy="1645920"/>
          </a:xfrm>
          <a:prstGeom prst="rect">
            <a:avLst/>
          </a:prstGeom>
        </p:spPr>
      </p:pic>
      <p:pic>
        <p:nvPicPr>
          <p:cNvPr id="11" name="Picture 10" descr="uce__church_target__i0.png"/>
          <p:cNvPicPr>
            <a:picLocks noChangeAspect="1"/>
          </p:cNvPicPr>
          <p:nvPr/>
        </p:nvPicPr>
        <p:blipFill>
          <a:blip r:embed="rId3"/>
          <a:stretch>
            <a:fillRect/>
          </a:stretch>
        </p:blipFill>
        <p:spPr>
          <a:xfrm>
            <a:off x="3950208" y="2286000"/>
            <a:ext cx="1645920" cy="1645920"/>
          </a:xfrm>
          <a:prstGeom prst="rect">
            <a:avLst/>
          </a:prstGeom>
        </p:spPr>
      </p:pic>
      <p:pic>
        <p:nvPicPr>
          <p:cNvPr id="12" name="Picture 11" descr="gift__church_target__i0.png"/>
          <p:cNvPicPr>
            <a:picLocks noChangeAspect="1"/>
          </p:cNvPicPr>
          <p:nvPr/>
        </p:nvPicPr>
        <p:blipFill>
          <a:blip r:embed="rId4"/>
          <a:stretch>
            <a:fillRect/>
          </a:stretch>
        </p:blipFill>
        <p:spPr>
          <a:xfrm>
            <a:off x="5751576" y="2286000"/>
            <a:ext cx="1645920" cy="1645920"/>
          </a:xfrm>
          <a:prstGeom prst="rect">
            <a:avLst/>
          </a:prstGeom>
        </p:spPr>
      </p:pic>
      <p:pic>
        <p:nvPicPr>
          <p:cNvPr id="13" name="Picture 12" descr="imma_ad__church_target__i0.png"/>
          <p:cNvPicPr>
            <a:picLocks noChangeAspect="1"/>
          </p:cNvPicPr>
          <p:nvPr/>
        </p:nvPicPr>
        <p:blipFill>
          <a:blip r:embed="rId5"/>
          <a:stretch>
            <a:fillRect/>
          </a:stretch>
        </p:blipFill>
        <p:spPr>
          <a:xfrm>
            <a:off x="7552944" y="2286000"/>
            <a:ext cx="1645920" cy="1645920"/>
          </a:xfrm>
          <a:prstGeom prst="rect">
            <a:avLst/>
          </a:prstGeom>
        </p:spPr>
      </p:pic>
      <p:pic>
        <p:nvPicPr>
          <p:cNvPr id="14" name="Picture 13" descr="utrap_k8__church_target__i0.png"/>
          <p:cNvPicPr>
            <a:picLocks noChangeAspect="1"/>
          </p:cNvPicPr>
          <p:nvPr/>
        </p:nvPicPr>
        <p:blipFill>
          <a:blip r:embed="rId6"/>
          <a:stretch>
            <a:fillRect/>
          </a:stretch>
        </p:blipFill>
        <p:spPr>
          <a:xfrm>
            <a:off x="9354312" y="2286000"/>
            <a:ext cx="1645920" cy="1645920"/>
          </a:xfrm>
          <a:prstGeom prst="rect">
            <a:avLst/>
          </a:prstGeom>
        </p:spPr>
      </p:pic>
      <p:sp>
        <p:nvSpPr>
          <p:cNvPr id="15" name="TextBox 14"/>
          <p:cNvSpPr txBox="1"/>
          <p:nvPr/>
        </p:nvSpPr>
        <p:spPr>
          <a:xfrm>
            <a:off x="704088" y="4791456"/>
            <a:ext cx="1371600" cy="274320"/>
          </a:xfrm>
          <a:prstGeom prst="rect">
            <a:avLst/>
          </a:prstGeom>
          <a:noFill/>
        </p:spPr>
        <p:txBody>
          <a:bodyPr wrap="square">
            <a:spAutoFit/>
          </a:bodyPr>
          <a:lstStyle/>
          <a:p>
            <a:pPr algn="r">
              <a:defRPr sz="1050" b="0">
                <a:solidFill>
                  <a:srgbClr val="666666"/>
                </a:solidFill>
                <a:latin typeface="Calibri"/>
              </a:defRPr>
            </a:pPr>
            <a:r>
              <a:t>unrelated prompt</a:t>
            </a:r>
          </a:p>
          <a:p>
            <a:pPr algn="r">
              <a:defRPr sz="1050" b="0">
                <a:solidFill>
                  <a:srgbClr val="666666"/>
                </a:solidFill>
                <a:latin typeface="Calibri"/>
              </a:defRPr>
            </a:pPr>
            <a:r>
              <a:t>(never erased)</a:t>
            </a:r>
          </a:p>
        </p:txBody>
      </p:sp>
      <p:pic>
        <p:nvPicPr>
          <p:cNvPr id="16" name="Picture 15" descr="base__retained_horn__i0.png"/>
          <p:cNvPicPr>
            <a:picLocks noChangeAspect="1"/>
          </p:cNvPicPr>
          <p:nvPr/>
        </p:nvPicPr>
        <p:blipFill>
          <a:blip r:embed="rId7"/>
          <a:stretch>
            <a:fillRect/>
          </a:stretch>
        </p:blipFill>
        <p:spPr>
          <a:xfrm>
            <a:off x="2148840" y="4169664"/>
            <a:ext cx="1645920" cy="1645920"/>
          </a:xfrm>
          <a:prstGeom prst="rect">
            <a:avLst/>
          </a:prstGeom>
        </p:spPr>
      </p:pic>
      <p:pic>
        <p:nvPicPr>
          <p:cNvPr id="17" name="Picture 16" descr="uce__retained_horn__i0.png"/>
          <p:cNvPicPr>
            <a:picLocks noChangeAspect="1"/>
          </p:cNvPicPr>
          <p:nvPr/>
        </p:nvPicPr>
        <p:blipFill>
          <a:blip r:embed="rId8"/>
          <a:stretch>
            <a:fillRect/>
          </a:stretch>
        </p:blipFill>
        <p:spPr>
          <a:xfrm>
            <a:off x="3950208" y="4169664"/>
            <a:ext cx="1645920" cy="1645920"/>
          </a:xfrm>
          <a:prstGeom prst="rect">
            <a:avLst/>
          </a:prstGeom>
        </p:spPr>
      </p:pic>
      <p:pic>
        <p:nvPicPr>
          <p:cNvPr id="18" name="Picture 17" descr="gift__retained_horn__i0.png"/>
          <p:cNvPicPr>
            <a:picLocks noChangeAspect="1"/>
          </p:cNvPicPr>
          <p:nvPr/>
        </p:nvPicPr>
        <p:blipFill>
          <a:blip r:embed="rId9"/>
          <a:stretch>
            <a:fillRect/>
          </a:stretch>
        </p:blipFill>
        <p:spPr>
          <a:xfrm>
            <a:off x="5751576" y="4169664"/>
            <a:ext cx="1645920" cy="1645920"/>
          </a:xfrm>
          <a:prstGeom prst="rect">
            <a:avLst/>
          </a:prstGeom>
        </p:spPr>
      </p:pic>
      <p:pic>
        <p:nvPicPr>
          <p:cNvPr id="19" name="Picture 18" descr="imma_ad__retained_horn__i0.png"/>
          <p:cNvPicPr>
            <a:picLocks noChangeAspect="1"/>
          </p:cNvPicPr>
          <p:nvPr/>
        </p:nvPicPr>
        <p:blipFill>
          <a:blip r:embed="rId10"/>
          <a:stretch>
            <a:fillRect/>
          </a:stretch>
        </p:blipFill>
        <p:spPr>
          <a:xfrm>
            <a:off x="7552944" y="4169664"/>
            <a:ext cx="1645920" cy="1645920"/>
          </a:xfrm>
          <a:prstGeom prst="rect">
            <a:avLst/>
          </a:prstGeom>
        </p:spPr>
      </p:pic>
      <p:pic>
        <p:nvPicPr>
          <p:cNvPr id="20" name="Picture 19" descr="utrap_k8__retained_horn__i0.png"/>
          <p:cNvPicPr>
            <a:picLocks noChangeAspect="1"/>
          </p:cNvPicPr>
          <p:nvPr/>
        </p:nvPicPr>
        <p:blipFill>
          <a:blip r:embed="rId11"/>
          <a:stretch>
            <a:fillRect/>
          </a:stretch>
        </p:blipFill>
        <p:spPr>
          <a:xfrm>
            <a:off x="9354312" y="4169664"/>
            <a:ext cx="1645920" cy="1645920"/>
          </a:xfrm>
          <a:prstGeom prst="rect">
            <a:avLst/>
          </a:prstGeom>
        </p:spPr>
      </p:pic>
      <p:sp>
        <p:nvSpPr>
          <p:cNvPr id="21" name="TextBox 20"/>
          <p:cNvSpPr txBox="1"/>
          <p:nvPr/>
        </p:nvSpPr>
        <p:spPr>
          <a:xfrm>
            <a:off x="713232" y="5870448"/>
            <a:ext cx="10789920" cy="274320"/>
          </a:xfrm>
          <a:prstGeom prst="rect">
            <a:avLst/>
          </a:prstGeom>
          <a:noFill/>
        </p:spPr>
        <p:txBody>
          <a:bodyPr wrap="square">
            <a:spAutoFit/>
          </a:bodyPr>
          <a:lstStyle/>
          <a:p>
            <a:pPr algn="l">
              <a:defRPr sz="1050" b="1">
                <a:solidFill>
                  <a:srgbClr val="666666"/>
                </a:solidFill>
                <a:latin typeface="Calibri"/>
              </a:defRPr>
            </a:pPr>
            <a:r>
              <a:t>Excluded from any claim about a published method:</a:t>
            </a:r>
          </a:p>
        </p:txBody>
      </p:sp>
      <p:sp>
        <p:nvSpPr>
          <p:cNvPr id="22" name="TextBox 21"/>
          <p:cNvSpPr txBox="1"/>
          <p:nvPr/>
        </p:nvSpPr>
        <p:spPr>
          <a:xfrm>
            <a:off x="713232" y="6108192"/>
            <a:ext cx="10789920" cy="274320"/>
          </a:xfrm>
          <a:prstGeom prst="rect">
            <a:avLst/>
          </a:prstGeom>
          <a:noFill/>
        </p:spPr>
        <p:txBody>
          <a:bodyPr wrap="square">
            <a:spAutoFit/>
          </a:bodyPr>
          <a:lstStyle/>
          <a:p>
            <a:pPr algn="l">
              <a:defRPr sz="900" b="0">
                <a:solidFill>
                  <a:srgbClr val="666666"/>
                </a:solidFill>
                <a:latin typeface="Calibri"/>
              </a:defRPr>
            </a:pPr>
            <a:r>
              <a:t>AdvUnlearn: post-attack evaluation loaded the base text encoder, so those numbers are void</a:t>
            </a:r>
          </a:p>
        </p:txBody>
      </p:sp>
      <p:sp>
        <p:nvSpPr>
          <p:cNvPr id="23" name="TextBox 22"/>
          <p:cNvSpPr txBox="1"/>
          <p:nvPr/>
        </p:nvSpPr>
        <p:spPr>
          <a:xfrm>
            <a:off x="713232" y="6295644"/>
            <a:ext cx="10789920" cy="274320"/>
          </a:xfrm>
          <a:prstGeom prst="rect">
            <a:avLst/>
          </a:prstGeom>
          <a:noFill/>
        </p:spPr>
        <p:txBody>
          <a:bodyPr wrap="square">
            <a:spAutoFit/>
          </a:bodyPr>
          <a:lstStyle/>
          <a:p>
            <a:pPr algn="l">
              <a:defRPr sz="900" b="0">
                <a:solidFill>
                  <a:srgbClr val="666666"/>
                </a:solidFill>
                <a:latin typeface="Calibri"/>
              </a:defRPr>
            </a:pPr>
            <a:r>
              <a:t>Meta-Unlearning: our port omits two of the three terms of the paper's meta objective</a:t>
            </a:r>
          </a:p>
        </p:txBody>
      </p:sp>
      <p:sp>
        <p:nvSpPr>
          <p:cNvPr id="24" name="TextBox 23"/>
          <p:cNvSpPr txBox="1"/>
          <p:nvPr/>
        </p:nvSpPr>
        <p:spPr>
          <a:xfrm>
            <a:off x="713232" y="6483096"/>
            <a:ext cx="10789920" cy="274320"/>
          </a:xfrm>
          <a:prstGeom prst="rect">
            <a:avLst/>
          </a:prstGeom>
          <a:noFill/>
        </p:spPr>
        <p:txBody>
          <a:bodyPr wrap="square">
            <a:spAutoFit/>
          </a:bodyPr>
          <a:lstStyle/>
          <a:p>
            <a:pPr algn="l">
              <a:defRPr sz="900" b="0">
                <a:solidFill>
                  <a:srgbClr val="666666"/>
                </a:solidFill>
                <a:latin typeface="Calibri"/>
              </a:defRPr>
            </a:pPr>
            <a:r>
              <a:t>WSR: implements the opposite regularisation direction from the paper it cites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384048"/>
            <a:ext cx="10911535" cy="731520"/>
          </a:xfrm>
          <a:prstGeom prst="rect">
            <a:avLst/>
          </a:prstGeom>
          <a:noFill/>
        </p:spPr>
        <p:txBody>
          <a:bodyPr wrap="none">
            <a:spAutoFit/>
          </a:bodyPr>
          <a:lstStyle/>
          <a:p>
            <a:pPr>
              <a:defRPr sz="2600" b="1">
                <a:solidFill>
                  <a:srgbClr val="1A1A1A"/>
                </a:solidFill>
                <a:latin typeface="Calibri"/>
              </a:defRPr>
            </a:pPr>
            <a:r>
              <a:t>Initial forgetting and preservation</a:t>
            </a:r>
          </a:p>
        </p:txBody>
      </p:sp>
      <p:sp>
        <p:nvSpPr>
          <p:cNvPr id="3" name="TextBox 2"/>
          <p:cNvSpPr txBox="1"/>
          <p:nvPr/>
        </p:nvSpPr>
        <p:spPr>
          <a:xfrm>
            <a:off x="713232" y="1444752"/>
            <a:ext cx="10789920" cy="274320"/>
          </a:xfrm>
          <a:prstGeom prst="rect">
            <a:avLst/>
          </a:prstGeom>
          <a:noFill/>
        </p:spPr>
        <p:txBody>
          <a:bodyPr wrap="square">
            <a:spAutoFit/>
          </a:bodyPr>
          <a:lstStyle/>
          <a:p>
            <a:pPr algn="l">
              <a:defRPr sz="1300" b="0">
                <a:solidFill>
                  <a:srgbClr val="666666"/>
                </a:solidFill>
                <a:latin typeface="Calibri"/>
              </a:defRPr>
            </a:pPr>
            <a:r>
              <a:t>Where each method starts, before any attack</a:t>
            </a:r>
          </a:p>
        </p:txBody>
      </p:sp>
      <p:pic>
        <p:nvPicPr>
          <p:cNvPr id="4" name="Picture 3" descr="fig_tradeoff.png"/>
          <p:cNvPicPr>
            <a:picLocks noChangeAspect="1"/>
          </p:cNvPicPr>
          <p:nvPr/>
        </p:nvPicPr>
        <p:blipFill>
          <a:blip r:embed="rId2"/>
          <a:stretch>
            <a:fillRect/>
          </a:stretch>
        </p:blipFill>
        <p:spPr>
          <a:xfrm>
            <a:off x="868680" y="1828800"/>
            <a:ext cx="9086987" cy="4206240"/>
          </a:xfrm>
          <a:prstGeom prst="rect">
            <a:avLst/>
          </a:prstGeom>
        </p:spPr>
      </p:pic>
      <p:sp>
        <p:nvSpPr>
          <p:cNvPr id="5" name="TextBox 4"/>
          <p:cNvSpPr txBox="1"/>
          <p:nvPr/>
        </p:nvSpPr>
        <p:spPr>
          <a:xfrm>
            <a:off x="8915400" y="2057400"/>
            <a:ext cx="2834640" cy="274320"/>
          </a:xfrm>
          <a:prstGeom prst="rect">
            <a:avLst/>
          </a:prstGeom>
          <a:noFill/>
        </p:spPr>
        <p:txBody>
          <a:bodyPr wrap="square">
            <a:spAutoFit/>
          </a:bodyPr>
          <a:lstStyle/>
          <a:p>
            <a:pPr algn="l">
              <a:defRPr sz="1250" b="1">
                <a:solidFill>
                  <a:srgbClr val="1A1A1A"/>
                </a:solidFill>
                <a:latin typeface="Calibri"/>
              </a:defRPr>
            </a:pPr>
            <a:r>
              <a:t>Read it as</a:t>
            </a:r>
          </a:p>
        </p:txBody>
      </p:sp>
      <p:sp>
        <p:nvSpPr>
          <p:cNvPr id="6" name="TextBox 5"/>
          <p:cNvSpPr txBox="1"/>
          <p:nvPr/>
        </p:nvSpPr>
        <p:spPr>
          <a:xfrm>
            <a:off x="8915400" y="2359152"/>
            <a:ext cx="2834640" cy="274320"/>
          </a:xfrm>
          <a:prstGeom prst="rect">
            <a:avLst/>
          </a:prstGeom>
          <a:noFill/>
        </p:spPr>
        <p:txBody>
          <a:bodyPr wrap="square">
            <a:spAutoFit/>
          </a:bodyPr>
          <a:lstStyle/>
          <a:p>
            <a:pPr algn="l">
              <a:defRPr sz="1200" b="0">
                <a:solidFill>
                  <a:srgbClr val="1A1A1A"/>
                </a:solidFill>
                <a:latin typeface="Calibri"/>
              </a:defRPr>
            </a:pPr>
            <a:r>
              <a:t>left = more forgotten</a:t>
            </a:r>
          </a:p>
        </p:txBody>
      </p:sp>
      <p:sp>
        <p:nvSpPr>
          <p:cNvPr id="7" name="TextBox 6"/>
          <p:cNvSpPr txBox="1"/>
          <p:nvPr/>
        </p:nvSpPr>
        <p:spPr>
          <a:xfrm>
            <a:off x="8915400" y="2633472"/>
            <a:ext cx="2834640" cy="274320"/>
          </a:xfrm>
          <a:prstGeom prst="rect">
            <a:avLst/>
          </a:prstGeom>
          <a:noFill/>
        </p:spPr>
        <p:txBody>
          <a:bodyPr wrap="square">
            <a:spAutoFit/>
          </a:bodyPr>
          <a:lstStyle/>
          <a:p>
            <a:pPr algn="l">
              <a:defRPr sz="1200" b="0">
                <a:solidFill>
                  <a:srgbClr val="1A1A1A"/>
                </a:solidFill>
                <a:latin typeface="Calibri"/>
              </a:defRPr>
            </a:pPr>
            <a:r>
              <a:t>up = more preserved</a:t>
            </a:r>
          </a:p>
        </p:txBody>
      </p:sp>
      <p:sp>
        <p:nvSpPr>
          <p:cNvPr id="8" name="TextBox 7"/>
          <p:cNvSpPr txBox="1"/>
          <p:nvPr/>
        </p:nvSpPr>
        <p:spPr>
          <a:xfrm>
            <a:off x="8915400" y="3154680"/>
            <a:ext cx="2834640" cy="274320"/>
          </a:xfrm>
          <a:prstGeom prst="rect">
            <a:avLst/>
          </a:prstGeom>
          <a:noFill/>
        </p:spPr>
        <p:txBody>
          <a:bodyPr wrap="square">
            <a:spAutoFit/>
          </a:bodyPr>
          <a:lstStyle/>
          <a:p>
            <a:pPr algn="l">
              <a:defRPr sz="1250" b="1">
                <a:solidFill>
                  <a:srgbClr val="9E2A2B"/>
                </a:solidFill>
                <a:latin typeface="Calibri"/>
              </a:defRPr>
            </a:pPr>
            <a:r>
              <a:t>Why it matters</a:t>
            </a:r>
          </a:p>
        </p:txBody>
      </p:sp>
      <p:sp>
        <p:nvSpPr>
          <p:cNvPr id="9" name="TextBox 8"/>
          <p:cNvSpPr txBox="1"/>
          <p:nvPr/>
        </p:nvSpPr>
        <p:spPr>
          <a:xfrm>
            <a:off x="8915400" y="3456432"/>
            <a:ext cx="2834640" cy="274320"/>
          </a:xfrm>
          <a:prstGeom prst="rect">
            <a:avLst/>
          </a:prstGeom>
          <a:noFill/>
        </p:spPr>
        <p:txBody>
          <a:bodyPr wrap="square">
            <a:spAutoFit/>
          </a:bodyPr>
          <a:lstStyle/>
          <a:p>
            <a:pPr algn="l">
              <a:defRPr sz="1200" b="0">
                <a:solidFill>
                  <a:srgbClr val="1A1A1A"/>
                </a:solidFill>
                <a:latin typeface="Calibri"/>
              </a:defRPr>
            </a:pPr>
            <a:r>
              <a:t>The methods do not begin the later attack from the same level of forgetting, so post attack numbers cannot be compared without accounting for where each one started.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384048"/>
            <a:ext cx="10911535" cy="731520"/>
          </a:xfrm>
          <a:prstGeom prst="rect">
            <a:avLst/>
          </a:prstGeom>
          <a:noFill/>
        </p:spPr>
        <p:txBody>
          <a:bodyPr wrap="none">
            <a:spAutoFit/>
          </a:bodyPr>
          <a:lstStyle/>
          <a:p>
            <a:pPr>
              <a:defRPr sz="2600" b="1">
                <a:solidFill>
                  <a:srgbClr val="1A1A1A"/>
                </a:solidFill>
                <a:latin typeface="Calibri"/>
              </a:defRPr>
            </a:pPr>
            <a:r>
              <a:t>Does the concept return?</a:t>
            </a:r>
          </a:p>
        </p:txBody>
      </p:sp>
      <p:sp>
        <p:nvSpPr>
          <p:cNvPr id="3" name="TextBox 2"/>
          <p:cNvSpPr txBox="1"/>
          <p:nvPr/>
        </p:nvSpPr>
        <p:spPr>
          <a:xfrm>
            <a:off x="713232" y="1371600"/>
            <a:ext cx="10789920" cy="274320"/>
          </a:xfrm>
          <a:prstGeom prst="rect">
            <a:avLst/>
          </a:prstGeom>
          <a:noFill/>
        </p:spPr>
        <p:txBody>
          <a:bodyPr wrap="square">
            <a:spAutoFit/>
          </a:bodyPr>
          <a:lstStyle/>
          <a:p>
            <a:pPr algn="l">
              <a:defRPr sz="1250" b="0">
                <a:solidFill>
                  <a:srgbClr val="666666"/>
                </a:solidFill>
                <a:latin typeface="Calibri"/>
              </a:defRPr>
            </a:pPr>
            <a:r>
              <a:t>Original model, after forgetting, after a 25 step relearning attack at attacker lr 5e-5. Prompt, generator seed and all generation settings identical across every cell; attack seed 0 throughout.</a:t>
            </a:r>
          </a:p>
        </p:txBody>
      </p:sp>
      <p:sp>
        <p:nvSpPr>
          <p:cNvPr id="4" name="TextBox 3"/>
          <p:cNvSpPr txBox="1"/>
          <p:nvPr/>
        </p:nvSpPr>
        <p:spPr>
          <a:xfrm>
            <a:off x="2971800" y="1755648"/>
            <a:ext cx="1353312" cy="274320"/>
          </a:xfrm>
          <a:prstGeom prst="rect">
            <a:avLst/>
          </a:prstGeom>
          <a:noFill/>
        </p:spPr>
        <p:txBody>
          <a:bodyPr wrap="square">
            <a:spAutoFit/>
          </a:bodyPr>
          <a:lstStyle/>
          <a:p>
            <a:pPr algn="ctr">
              <a:defRPr sz="1050" b="1">
                <a:solidFill>
                  <a:srgbClr val="1A1A1A"/>
                </a:solidFill>
                <a:latin typeface="Calibri"/>
              </a:defRPr>
            </a:pPr>
            <a:r>
              <a:t>SD-1.4 (original)</a:t>
            </a:r>
          </a:p>
        </p:txBody>
      </p:sp>
      <p:sp>
        <p:nvSpPr>
          <p:cNvPr id="5" name="TextBox 4"/>
          <p:cNvSpPr txBox="1"/>
          <p:nvPr/>
        </p:nvSpPr>
        <p:spPr>
          <a:xfrm>
            <a:off x="4526280" y="1755648"/>
            <a:ext cx="1353312" cy="274320"/>
          </a:xfrm>
          <a:prstGeom prst="rect">
            <a:avLst/>
          </a:prstGeom>
          <a:noFill/>
        </p:spPr>
        <p:txBody>
          <a:bodyPr wrap="square">
            <a:spAutoFit/>
          </a:bodyPr>
          <a:lstStyle/>
          <a:p>
            <a:pPr algn="ctr">
              <a:defRPr sz="1050" b="1">
                <a:solidFill>
                  <a:srgbClr val="1A1A1A"/>
                </a:solidFill>
                <a:latin typeface="Calibri"/>
              </a:defRPr>
            </a:pPr>
            <a:r>
              <a:t>after forgetting</a:t>
            </a:r>
          </a:p>
        </p:txBody>
      </p:sp>
      <p:sp>
        <p:nvSpPr>
          <p:cNvPr id="6" name="TextBox 5"/>
          <p:cNvSpPr txBox="1"/>
          <p:nvPr/>
        </p:nvSpPr>
        <p:spPr>
          <a:xfrm>
            <a:off x="6080760" y="1755648"/>
            <a:ext cx="1353312" cy="274320"/>
          </a:xfrm>
          <a:prstGeom prst="rect">
            <a:avLst/>
          </a:prstGeom>
          <a:noFill/>
        </p:spPr>
        <p:txBody>
          <a:bodyPr wrap="square">
            <a:spAutoFit/>
          </a:bodyPr>
          <a:lstStyle/>
          <a:p>
            <a:pPr algn="ctr">
              <a:defRPr sz="1050" b="1">
                <a:solidFill>
                  <a:srgbClr val="1A1A1A"/>
                </a:solidFill>
                <a:latin typeface="Calibri"/>
              </a:defRPr>
            </a:pPr>
            <a:r>
              <a:t>after relearning</a:t>
            </a:r>
          </a:p>
        </p:txBody>
      </p:sp>
      <p:sp>
        <p:nvSpPr>
          <p:cNvPr id="7" name="TextBox 6"/>
          <p:cNvSpPr txBox="1"/>
          <p:nvPr/>
        </p:nvSpPr>
        <p:spPr>
          <a:xfrm>
            <a:off x="1527048" y="2761488"/>
            <a:ext cx="1371600" cy="274320"/>
          </a:xfrm>
          <a:prstGeom prst="rect">
            <a:avLst/>
          </a:prstGeom>
          <a:noFill/>
        </p:spPr>
        <p:txBody>
          <a:bodyPr wrap="square">
            <a:spAutoFit/>
          </a:bodyPr>
          <a:lstStyle/>
          <a:p>
            <a:pPr algn="r">
              <a:defRPr sz="1050" b="0">
                <a:solidFill>
                  <a:srgbClr val="666666"/>
                </a:solidFill>
                <a:latin typeface="Calibri"/>
              </a:defRPr>
            </a:pPr>
            <a:r>
              <a:t>UTRAP K=0</a:t>
            </a:r>
          </a:p>
          <a:p>
            <a:pPr algn="r">
              <a:defRPr sz="1050" b="0">
                <a:solidFill>
                  <a:srgbClr val="666666"/>
                </a:solidFill>
                <a:latin typeface="Calibri"/>
              </a:defRPr>
            </a:pPr>
            <a:r>
              <a:t>(ours)</a:t>
            </a:r>
          </a:p>
        </p:txBody>
      </p:sp>
      <p:pic>
        <p:nvPicPr>
          <p:cNvPr id="8" name="Picture 7" descr="base__church_target__i0.png"/>
          <p:cNvPicPr>
            <a:picLocks noChangeAspect="1"/>
          </p:cNvPicPr>
          <p:nvPr/>
        </p:nvPicPr>
        <p:blipFill>
          <a:blip r:embed="rId2"/>
          <a:stretch>
            <a:fillRect/>
          </a:stretch>
        </p:blipFill>
        <p:spPr>
          <a:xfrm>
            <a:off x="2971800" y="2286000"/>
            <a:ext cx="1353312" cy="1353312"/>
          </a:xfrm>
          <a:prstGeom prst="rect">
            <a:avLst/>
          </a:prstGeom>
        </p:spPr>
      </p:pic>
      <p:pic>
        <p:nvPicPr>
          <p:cNvPr id="9" name="Picture 8" descr="utrap_k0__church_target__i0.png"/>
          <p:cNvPicPr>
            <a:picLocks noChangeAspect="1"/>
          </p:cNvPicPr>
          <p:nvPr/>
        </p:nvPicPr>
        <p:blipFill>
          <a:blip r:embed="rId3"/>
          <a:stretch>
            <a:fillRect/>
          </a:stretch>
        </p:blipFill>
        <p:spPr>
          <a:xfrm>
            <a:off x="4526280" y="2286000"/>
            <a:ext cx="1353312" cy="1353312"/>
          </a:xfrm>
          <a:prstGeom prst="rect">
            <a:avLst/>
          </a:prstGeom>
        </p:spPr>
      </p:pic>
      <p:pic>
        <p:nvPicPr>
          <p:cNvPr id="10" name="Picture 9" descr="p0_i0.png"/>
          <p:cNvPicPr>
            <a:picLocks noChangeAspect="1"/>
          </p:cNvPicPr>
          <p:nvPr/>
        </p:nvPicPr>
        <p:blipFill>
          <a:blip r:embed="rId4"/>
          <a:stretch>
            <a:fillRect/>
          </a:stretch>
        </p:blipFill>
        <p:spPr>
          <a:xfrm>
            <a:off x="6080760" y="2286000"/>
            <a:ext cx="1353312" cy="1353312"/>
          </a:xfrm>
          <a:prstGeom prst="rect">
            <a:avLst/>
          </a:prstGeom>
        </p:spPr>
      </p:pic>
      <p:sp>
        <p:nvSpPr>
          <p:cNvPr id="11" name="TextBox 10"/>
          <p:cNvSpPr txBox="1"/>
          <p:nvPr/>
        </p:nvSpPr>
        <p:spPr>
          <a:xfrm>
            <a:off x="1527048" y="4242816"/>
            <a:ext cx="1371600" cy="274320"/>
          </a:xfrm>
          <a:prstGeom prst="rect">
            <a:avLst/>
          </a:prstGeom>
          <a:noFill/>
        </p:spPr>
        <p:txBody>
          <a:bodyPr wrap="square">
            <a:spAutoFit/>
          </a:bodyPr>
          <a:lstStyle/>
          <a:p>
            <a:pPr algn="r">
              <a:defRPr sz="1050" b="0">
                <a:solidFill>
                  <a:srgbClr val="666666"/>
                </a:solidFill>
                <a:latin typeface="Calibri"/>
              </a:defRPr>
            </a:pPr>
            <a:r>
              <a:t>UTRAP K=8</a:t>
            </a:r>
          </a:p>
          <a:p>
            <a:pPr algn="r">
              <a:defRPr sz="1050" b="0">
                <a:solidFill>
                  <a:srgbClr val="666666"/>
                </a:solidFill>
                <a:latin typeface="Calibri"/>
              </a:defRPr>
            </a:pPr>
            <a:r>
              <a:t>(ours)</a:t>
            </a:r>
          </a:p>
        </p:txBody>
      </p:sp>
      <p:pic>
        <p:nvPicPr>
          <p:cNvPr id="12" name="Picture 11" descr="base__church_target__i0.png"/>
          <p:cNvPicPr>
            <a:picLocks noChangeAspect="1"/>
          </p:cNvPicPr>
          <p:nvPr/>
        </p:nvPicPr>
        <p:blipFill>
          <a:blip r:embed="rId2"/>
          <a:stretch>
            <a:fillRect/>
          </a:stretch>
        </p:blipFill>
        <p:spPr>
          <a:xfrm>
            <a:off x="2971800" y="3767328"/>
            <a:ext cx="1353312" cy="1353312"/>
          </a:xfrm>
          <a:prstGeom prst="rect">
            <a:avLst/>
          </a:prstGeom>
        </p:spPr>
      </p:pic>
      <p:pic>
        <p:nvPicPr>
          <p:cNvPr id="13" name="Picture 12" descr="utrap_k8__church_target__i0.png"/>
          <p:cNvPicPr>
            <a:picLocks noChangeAspect="1"/>
          </p:cNvPicPr>
          <p:nvPr/>
        </p:nvPicPr>
        <p:blipFill>
          <a:blip r:embed="rId5"/>
          <a:stretch>
            <a:fillRect/>
          </a:stretch>
        </p:blipFill>
        <p:spPr>
          <a:xfrm>
            <a:off x="4526280" y="3767328"/>
            <a:ext cx="1353312" cy="1353312"/>
          </a:xfrm>
          <a:prstGeom prst="rect">
            <a:avLst/>
          </a:prstGeom>
        </p:spPr>
      </p:pic>
      <p:pic>
        <p:nvPicPr>
          <p:cNvPr id="14" name="Picture 13" descr="p0_i0.png"/>
          <p:cNvPicPr>
            <a:picLocks noChangeAspect="1"/>
          </p:cNvPicPr>
          <p:nvPr/>
        </p:nvPicPr>
        <p:blipFill>
          <a:blip r:embed="rId6"/>
          <a:stretch>
            <a:fillRect/>
          </a:stretch>
        </p:blipFill>
        <p:spPr>
          <a:xfrm>
            <a:off x="6080760" y="3767328"/>
            <a:ext cx="1353312" cy="1353312"/>
          </a:xfrm>
          <a:prstGeom prst="rect">
            <a:avLst/>
          </a:prstGeom>
        </p:spPr>
      </p:pic>
      <p:sp>
        <p:nvSpPr>
          <p:cNvPr id="15" name="TextBox 14"/>
          <p:cNvSpPr txBox="1"/>
          <p:nvPr/>
        </p:nvSpPr>
        <p:spPr>
          <a:xfrm>
            <a:off x="1527048" y="5724144"/>
            <a:ext cx="1371600" cy="274320"/>
          </a:xfrm>
          <a:prstGeom prst="rect">
            <a:avLst/>
          </a:prstGeom>
          <a:noFill/>
        </p:spPr>
        <p:txBody>
          <a:bodyPr wrap="square">
            <a:spAutoFit/>
          </a:bodyPr>
          <a:lstStyle/>
          <a:p>
            <a:pPr algn="r">
              <a:defRPr sz="1050" b="0">
                <a:solidFill>
                  <a:srgbClr val="666666"/>
                </a:solidFill>
                <a:latin typeface="Calibri"/>
              </a:defRPr>
            </a:pPr>
            <a:r>
              <a:t>FRAG/FRP</a:t>
            </a:r>
          </a:p>
          <a:p>
            <a:pPr algn="r">
              <a:defRPr sz="1050" b="0">
                <a:solidFill>
                  <a:srgbClr val="666666"/>
                </a:solidFill>
                <a:latin typeface="Calibri"/>
              </a:defRPr>
            </a:pPr>
            <a:r>
              <a:t>(port)</a:t>
            </a:r>
          </a:p>
        </p:txBody>
      </p:sp>
      <p:pic>
        <p:nvPicPr>
          <p:cNvPr id="16" name="Picture 15" descr="base__church_target__i0.png"/>
          <p:cNvPicPr>
            <a:picLocks noChangeAspect="1"/>
          </p:cNvPicPr>
          <p:nvPr/>
        </p:nvPicPr>
        <p:blipFill>
          <a:blip r:embed="rId2"/>
          <a:stretch>
            <a:fillRect/>
          </a:stretch>
        </p:blipFill>
        <p:spPr>
          <a:xfrm>
            <a:off x="2971800" y="5248656"/>
            <a:ext cx="1353312" cy="1353312"/>
          </a:xfrm>
          <a:prstGeom prst="rect">
            <a:avLst/>
          </a:prstGeom>
        </p:spPr>
      </p:pic>
      <p:pic>
        <p:nvPicPr>
          <p:cNvPr id="17" name="Picture 16" descr="frp__church_target__i0.png"/>
          <p:cNvPicPr>
            <a:picLocks noChangeAspect="1"/>
          </p:cNvPicPr>
          <p:nvPr/>
        </p:nvPicPr>
        <p:blipFill>
          <a:blip r:embed="rId7"/>
          <a:stretch>
            <a:fillRect/>
          </a:stretch>
        </p:blipFill>
        <p:spPr>
          <a:xfrm>
            <a:off x="4526280" y="5248656"/>
            <a:ext cx="1353312" cy="1353312"/>
          </a:xfrm>
          <a:prstGeom prst="rect">
            <a:avLst/>
          </a:prstGeom>
        </p:spPr>
      </p:pic>
      <p:pic>
        <p:nvPicPr>
          <p:cNvPr id="18" name="Picture 17" descr="p0_i0.png"/>
          <p:cNvPicPr>
            <a:picLocks noChangeAspect="1"/>
          </p:cNvPicPr>
          <p:nvPr/>
        </p:nvPicPr>
        <p:blipFill>
          <a:blip r:embed="rId8"/>
          <a:stretch>
            <a:fillRect/>
          </a:stretch>
        </p:blipFill>
        <p:spPr>
          <a:xfrm>
            <a:off x="6080760" y="5248656"/>
            <a:ext cx="1353312" cy="1353312"/>
          </a:xfrm>
          <a:prstGeom prst="rect">
            <a:avLst/>
          </a:prstGeom>
        </p:spPr>
      </p:pic>
      <p:sp>
        <p:nvSpPr>
          <p:cNvPr id="19" name="TextBox 18"/>
          <p:cNvSpPr txBox="1"/>
          <p:nvPr/>
        </p:nvSpPr>
        <p:spPr>
          <a:xfrm>
            <a:off x="8183879" y="1828800"/>
            <a:ext cx="3749039" cy="274320"/>
          </a:xfrm>
          <a:prstGeom prst="rect">
            <a:avLst/>
          </a:prstGeom>
          <a:noFill/>
        </p:spPr>
        <p:txBody>
          <a:bodyPr wrap="square">
            <a:spAutoFit/>
          </a:bodyPr>
          <a:lstStyle/>
          <a:p>
            <a:pPr algn="l">
              <a:defRPr sz="1200" b="1">
                <a:solidFill>
                  <a:srgbClr val="1A1A1A"/>
                </a:solidFill>
                <a:latin typeface="Calibri"/>
              </a:defRPr>
            </a:pPr>
            <a:r>
              <a:t>Recovery H at exactly these settings</a:t>
            </a:r>
          </a:p>
        </p:txBody>
      </p:sp>
      <p:sp>
        <p:nvSpPr>
          <p:cNvPr id="20" name="TextBox 19"/>
          <p:cNvSpPr txBox="1"/>
          <p:nvPr/>
        </p:nvSpPr>
        <p:spPr>
          <a:xfrm>
            <a:off x="8183879" y="2121408"/>
            <a:ext cx="3749039" cy="274320"/>
          </a:xfrm>
          <a:prstGeom prst="rect">
            <a:avLst/>
          </a:prstGeom>
          <a:noFill/>
        </p:spPr>
        <p:txBody>
          <a:bodyPr wrap="square">
            <a:spAutoFit/>
          </a:bodyPr>
          <a:lstStyle/>
          <a:p>
            <a:pPr algn="l">
              <a:defRPr sz="1050" b="0">
                <a:solidFill>
                  <a:srgbClr val="666666"/>
                </a:solidFill>
                <a:latin typeface="Calibri"/>
              </a:defRPr>
            </a:pPr>
            <a:r>
              <a:t>25 steps, attacker lr 5e-5, attack seed 0</a:t>
            </a:r>
          </a:p>
        </p:txBody>
      </p:sp>
      <p:sp>
        <p:nvSpPr>
          <p:cNvPr id="21" name="TextBox 20"/>
          <p:cNvSpPr txBox="1"/>
          <p:nvPr/>
        </p:nvSpPr>
        <p:spPr>
          <a:xfrm>
            <a:off x="8183879" y="2487168"/>
            <a:ext cx="3749039" cy="274320"/>
          </a:xfrm>
          <a:prstGeom prst="rect">
            <a:avLst/>
          </a:prstGeom>
          <a:noFill/>
        </p:spPr>
        <p:txBody>
          <a:bodyPr wrap="square">
            <a:spAutoFit/>
          </a:bodyPr>
          <a:lstStyle/>
          <a:p>
            <a:pPr algn="l">
              <a:defRPr sz="1150" b="0">
                <a:solidFill>
                  <a:srgbClr val="1A1A1A"/>
                </a:solidFill>
                <a:latin typeface="Calibri"/>
              </a:defRPr>
            </a:pPr>
            <a:r>
              <a:t>UTRAP K=0:   H = 1.000   (gate valid)</a:t>
            </a:r>
          </a:p>
        </p:txBody>
      </p:sp>
      <p:sp>
        <p:nvSpPr>
          <p:cNvPr id="22" name="TextBox 21"/>
          <p:cNvSpPr txBox="1"/>
          <p:nvPr/>
        </p:nvSpPr>
        <p:spPr>
          <a:xfrm>
            <a:off x="8183879" y="2816352"/>
            <a:ext cx="3749039" cy="274320"/>
          </a:xfrm>
          <a:prstGeom prst="rect">
            <a:avLst/>
          </a:prstGeom>
          <a:noFill/>
        </p:spPr>
        <p:txBody>
          <a:bodyPr wrap="square">
            <a:spAutoFit/>
          </a:bodyPr>
          <a:lstStyle/>
          <a:p>
            <a:pPr algn="l">
              <a:defRPr sz="1150" b="0">
                <a:solidFill>
                  <a:srgbClr val="1A1A1A"/>
                </a:solidFill>
                <a:latin typeface="Calibri"/>
              </a:defRPr>
            </a:pPr>
            <a:r>
              <a:t>UTRAP K=8:   H = 1.000   (gate valid)</a:t>
            </a:r>
          </a:p>
        </p:txBody>
      </p:sp>
      <p:sp>
        <p:nvSpPr>
          <p:cNvPr id="23" name="TextBox 22"/>
          <p:cNvSpPr txBox="1"/>
          <p:nvPr/>
        </p:nvSpPr>
        <p:spPr>
          <a:xfrm>
            <a:off x="8183879" y="3145536"/>
            <a:ext cx="3749039" cy="274320"/>
          </a:xfrm>
          <a:prstGeom prst="rect">
            <a:avLst/>
          </a:prstGeom>
          <a:noFill/>
        </p:spPr>
        <p:txBody>
          <a:bodyPr wrap="square">
            <a:spAutoFit/>
          </a:bodyPr>
          <a:lstStyle/>
          <a:p>
            <a:pPr algn="l">
              <a:defRPr sz="1150" b="0">
                <a:solidFill>
                  <a:srgbClr val="1A1A1A"/>
                </a:solidFill>
                <a:latin typeface="Calibri"/>
              </a:defRPr>
            </a:pPr>
            <a:r>
              <a:t>FRAG/FRP teacher:   H = 1.000   (gate valid)</a:t>
            </a:r>
          </a:p>
        </p:txBody>
      </p:sp>
      <p:sp>
        <p:nvSpPr>
          <p:cNvPr id="24" name="TextBox 23"/>
          <p:cNvSpPr txBox="1"/>
          <p:nvPr/>
        </p:nvSpPr>
        <p:spPr>
          <a:xfrm>
            <a:off x="8183879" y="3675887"/>
            <a:ext cx="3749039" cy="274320"/>
          </a:xfrm>
          <a:prstGeom prst="rect">
            <a:avLst/>
          </a:prstGeom>
          <a:noFill/>
        </p:spPr>
        <p:txBody>
          <a:bodyPr wrap="square">
            <a:spAutoFit/>
          </a:bodyPr>
          <a:lstStyle/>
          <a:p>
            <a:pPr algn="l">
              <a:defRPr sz="1050" b="0">
                <a:solidFill>
                  <a:srgbClr val="666666"/>
                </a:solidFill>
                <a:latin typeface="Calibri"/>
              </a:defRPr>
            </a:pPr>
            <a:r>
              <a:t>Across the full sweep every arm reaches H = 1.000 at some tested attacker setting. Worst observed means the maximum over the grid we tested, not a guarantee against a stronger attacker.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384048"/>
            <a:ext cx="10911535" cy="731520"/>
          </a:xfrm>
          <a:prstGeom prst="rect">
            <a:avLst/>
          </a:prstGeom>
          <a:noFill/>
        </p:spPr>
        <p:txBody>
          <a:bodyPr wrap="none">
            <a:spAutoFit/>
          </a:bodyPr>
          <a:lstStyle/>
          <a:p>
            <a:pPr>
              <a:defRPr sz="2600" b="1">
                <a:solidFill>
                  <a:srgbClr val="1A1A1A"/>
                </a:solidFill>
                <a:latin typeface="Calibri"/>
              </a:defRPr>
            </a:pPr>
            <a:r>
              <a:t>Does attack anticipation help?</a:t>
            </a:r>
          </a:p>
        </p:txBody>
      </p:sp>
      <p:sp>
        <p:nvSpPr>
          <p:cNvPr id="3" name="TextBox 2"/>
          <p:cNvSpPr txBox="1"/>
          <p:nvPr/>
        </p:nvSpPr>
        <p:spPr>
          <a:xfrm>
            <a:off x="713232" y="1426464"/>
            <a:ext cx="10789920" cy="274320"/>
          </a:xfrm>
          <a:prstGeom prst="rect">
            <a:avLst/>
          </a:prstGeom>
          <a:noFill/>
        </p:spPr>
        <p:txBody>
          <a:bodyPr wrap="square">
            <a:spAutoFit/>
          </a:bodyPr>
          <a:lstStyle/>
          <a:p>
            <a:pPr algn="l">
              <a:defRPr sz="1250" b="0">
                <a:solidFill>
                  <a:srgbClr val="666666"/>
                </a:solidFill>
                <a:latin typeface="Calibri"/>
              </a:defRPr>
            </a:pPr>
            <a:r>
              <a:t>Fixed outer update comparison. Both UTRAP groups ran 400 outer updates; K=8 additionally received about three times K=0's training samples.</a:t>
            </a:r>
          </a:p>
        </p:txBody>
      </p:sp>
      <p:pic>
        <p:nvPicPr>
          <p:cNvPr id="4" name="Picture 3" descr="fig_u4.png"/>
          <p:cNvPicPr>
            <a:picLocks noChangeAspect="1"/>
          </p:cNvPicPr>
          <p:nvPr/>
        </p:nvPicPr>
        <p:blipFill>
          <a:blip r:embed="rId2"/>
          <a:stretch>
            <a:fillRect/>
          </a:stretch>
        </p:blipFill>
        <p:spPr>
          <a:xfrm>
            <a:off x="868680" y="1874519"/>
            <a:ext cx="5975660" cy="4114800"/>
          </a:xfrm>
          <a:prstGeom prst="rect">
            <a:avLst/>
          </a:prstGeom>
        </p:spPr>
      </p:pic>
      <p:sp>
        <p:nvSpPr>
          <p:cNvPr id="5" name="TextBox 4"/>
          <p:cNvSpPr txBox="1"/>
          <p:nvPr/>
        </p:nvSpPr>
        <p:spPr>
          <a:xfrm>
            <a:off x="8549640" y="2103120"/>
            <a:ext cx="3200400" cy="274320"/>
          </a:xfrm>
          <a:prstGeom prst="rect">
            <a:avLst/>
          </a:prstGeom>
          <a:noFill/>
        </p:spPr>
        <p:txBody>
          <a:bodyPr wrap="square">
            <a:spAutoFit/>
          </a:bodyPr>
          <a:lstStyle/>
          <a:p>
            <a:pPr algn="l">
              <a:defRPr sz="1250" b="1">
                <a:solidFill>
                  <a:srgbClr val="1A1A1A"/>
                </a:solidFill>
                <a:latin typeface="Calibri"/>
              </a:defRPr>
            </a:pPr>
            <a:r>
              <a:t>Measured</a:t>
            </a:r>
          </a:p>
        </p:txBody>
      </p:sp>
      <p:sp>
        <p:nvSpPr>
          <p:cNvPr id="6" name="TextBox 5"/>
          <p:cNvSpPr txBox="1"/>
          <p:nvPr/>
        </p:nvSpPr>
        <p:spPr>
          <a:xfrm>
            <a:off x="8549640" y="2414016"/>
            <a:ext cx="3200400" cy="274320"/>
          </a:xfrm>
          <a:prstGeom prst="rect">
            <a:avLst/>
          </a:prstGeom>
          <a:noFill/>
        </p:spPr>
        <p:txBody>
          <a:bodyPr wrap="square">
            <a:spAutoFit/>
          </a:bodyPr>
          <a:lstStyle/>
          <a:p>
            <a:pPr algn="l">
              <a:defRPr sz="1150" b="0">
                <a:solidFill>
                  <a:srgbClr val="1A1A1A"/>
                </a:solidFill>
                <a:latin typeface="Calibri"/>
              </a:defRPr>
            </a:pPr>
            <a:r>
              <a:t>UTRAP K=8:  mean H 0.807  (n=9)</a:t>
            </a:r>
          </a:p>
        </p:txBody>
      </p:sp>
      <p:sp>
        <p:nvSpPr>
          <p:cNvPr id="7" name="TextBox 6"/>
          <p:cNvSpPr txBox="1"/>
          <p:nvPr/>
        </p:nvSpPr>
        <p:spPr>
          <a:xfrm>
            <a:off x="8549640" y="2706624"/>
            <a:ext cx="3200400" cy="274320"/>
          </a:xfrm>
          <a:prstGeom prst="rect">
            <a:avLst/>
          </a:prstGeom>
          <a:noFill/>
        </p:spPr>
        <p:txBody>
          <a:bodyPr wrap="square">
            <a:spAutoFit/>
          </a:bodyPr>
          <a:lstStyle/>
          <a:p>
            <a:pPr algn="l">
              <a:defRPr sz="1150" b="0">
                <a:solidFill>
                  <a:srgbClr val="1A1A1A"/>
                </a:solidFill>
                <a:latin typeface="Calibri"/>
              </a:defRPr>
            </a:pPr>
            <a:r>
              <a:t>Teacher:        mean H 0.867  (n=3)</a:t>
            </a:r>
          </a:p>
        </p:txBody>
      </p:sp>
      <p:sp>
        <p:nvSpPr>
          <p:cNvPr id="8" name="TextBox 7"/>
          <p:cNvSpPr txBox="1"/>
          <p:nvPr/>
        </p:nvSpPr>
        <p:spPr>
          <a:xfrm>
            <a:off x="8549640" y="2999232"/>
            <a:ext cx="3200400" cy="274320"/>
          </a:xfrm>
          <a:prstGeom prst="rect">
            <a:avLst/>
          </a:prstGeom>
          <a:noFill/>
        </p:spPr>
        <p:txBody>
          <a:bodyPr wrap="square">
            <a:spAutoFit/>
          </a:bodyPr>
          <a:lstStyle/>
          <a:p>
            <a:pPr algn="l">
              <a:defRPr sz="1150" b="0">
                <a:solidFill>
                  <a:srgbClr val="1A1A1A"/>
                </a:solidFill>
                <a:latin typeface="Calibri"/>
              </a:defRPr>
            </a:pPr>
            <a:r>
              <a:t>UTRAP K=0:  mean H 0.244  (n=9)</a:t>
            </a:r>
          </a:p>
        </p:txBody>
      </p:sp>
      <p:sp>
        <p:nvSpPr>
          <p:cNvPr id="9" name="TextBox 8"/>
          <p:cNvSpPr txBox="1"/>
          <p:nvPr/>
        </p:nvSpPr>
        <p:spPr>
          <a:xfrm>
            <a:off x="8549640" y="3520440"/>
            <a:ext cx="3200400" cy="274320"/>
          </a:xfrm>
          <a:prstGeom prst="rect">
            <a:avLst/>
          </a:prstGeom>
          <a:noFill/>
        </p:spPr>
        <p:txBody>
          <a:bodyPr wrap="square">
            <a:spAutoFit/>
          </a:bodyPr>
          <a:lstStyle/>
          <a:p>
            <a:pPr algn="l">
              <a:defRPr sz="1250" b="1">
                <a:solidFill>
                  <a:srgbClr val="9E2A2B"/>
                </a:solidFill>
                <a:latin typeface="Calibri"/>
              </a:defRPr>
            </a:pPr>
            <a:r>
              <a:t>Conclusion</a:t>
            </a:r>
          </a:p>
        </p:txBody>
      </p:sp>
      <p:sp>
        <p:nvSpPr>
          <p:cNvPr id="10" name="TextBox 9"/>
          <p:cNvSpPr txBox="1"/>
          <p:nvPr/>
        </p:nvSpPr>
        <p:spPr>
          <a:xfrm>
            <a:off x="8549640" y="3831336"/>
            <a:ext cx="3200400" cy="274320"/>
          </a:xfrm>
          <a:prstGeom prst="rect">
            <a:avLst/>
          </a:prstGeom>
          <a:noFill/>
        </p:spPr>
        <p:txBody>
          <a:bodyPr wrap="square">
            <a:spAutoFit/>
          </a:bodyPr>
          <a:lstStyle/>
          <a:p>
            <a:pPr algn="l">
              <a:defRPr sz="1150" b="0">
                <a:solidFill>
                  <a:srgbClr val="1A1A1A"/>
                </a:solidFill>
                <a:latin typeface="Calibri"/>
              </a:defRPr>
            </a:pPr>
            <a:r>
              <a:t>At matched outer updates, and with more data, K=8 is not distinguishable from leaving the teacher untouched. Simulating the attacker gave no measurable benefit here.</a:t>
            </a:r>
          </a:p>
        </p:txBody>
      </p:sp>
      <p:sp>
        <p:nvSpPr>
          <p:cNvPr id="11" name="TextBox 10"/>
          <p:cNvSpPr txBox="1"/>
          <p:nvPr/>
        </p:nvSpPr>
        <p:spPr>
          <a:xfrm>
            <a:off x="8549640" y="4983480"/>
            <a:ext cx="3200400" cy="274320"/>
          </a:xfrm>
          <a:prstGeom prst="rect">
            <a:avLst/>
          </a:prstGeom>
          <a:noFill/>
        </p:spPr>
        <p:txBody>
          <a:bodyPr wrap="square">
            <a:spAutoFit/>
          </a:bodyPr>
          <a:lstStyle/>
          <a:p>
            <a:pPr algn="l">
              <a:defRPr sz="1200" b="1">
                <a:solidFill>
                  <a:srgbClr val="666666"/>
                </a:solidFill>
                <a:latin typeface="Calibri"/>
              </a:defRPr>
            </a:pPr>
            <a:r>
              <a:t>Scope</a:t>
            </a:r>
          </a:p>
        </p:txBody>
      </p:sp>
      <p:sp>
        <p:nvSpPr>
          <p:cNvPr id="12" name="TextBox 11"/>
          <p:cNvSpPr txBox="1"/>
          <p:nvPr/>
        </p:nvSpPr>
        <p:spPr>
          <a:xfrm>
            <a:off x="8549640" y="5257800"/>
            <a:ext cx="3200400" cy="274320"/>
          </a:xfrm>
          <a:prstGeom prst="rect">
            <a:avLst/>
          </a:prstGeom>
          <a:noFill/>
        </p:spPr>
        <p:txBody>
          <a:bodyPr wrap="square">
            <a:spAutoFit/>
          </a:bodyPr>
          <a:lstStyle/>
          <a:p>
            <a:pPr algn="l">
              <a:defRPr sz="1100" b="0">
                <a:solidFill>
                  <a:srgbClr val="666666"/>
                </a:solidFill>
                <a:latin typeface="Calibri"/>
              </a:defRPr>
            </a:pPr>
            <a:r>
              <a:t>One concept, one teacher, one attack budget, three builds per arm.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384048"/>
            <a:ext cx="10911535" cy="731520"/>
          </a:xfrm>
          <a:prstGeom prst="rect">
            <a:avLst/>
          </a:prstGeom>
          <a:noFill/>
        </p:spPr>
        <p:txBody>
          <a:bodyPr wrap="none">
            <a:spAutoFit/>
          </a:bodyPr>
          <a:lstStyle/>
          <a:p>
            <a:pPr>
              <a:defRPr sz="2600" b="1">
                <a:solidFill>
                  <a:srgbClr val="1A1A1A"/>
                </a:solidFill>
                <a:latin typeface="Calibri"/>
              </a:defRPr>
            </a:pPr>
            <a:r>
              <a:t>Attack calibration changes the conclusion</a:t>
            </a:r>
          </a:p>
        </p:txBody>
      </p:sp>
      <p:sp>
        <p:nvSpPr>
          <p:cNvPr id="3" name="TextBox 2"/>
          <p:cNvSpPr txBox="1"/>
          <p:nvPr/>
        </p:nvSpPr>
        <p:spPr>
          <a:xfrm>
            <a:off x="713232" y="1426464"/>
            <a:ext cx="10789920" cy="274320"/>
          </a:xfrm>
          <a:prstGeom prst="rect">
            <a:avLst/>
          </a:prstGeom>
          <a:noFill/>
        </p:spPr>
        <p:txBody>
          <a:bodyPr wrap="square">
            <a:spAutoFit/>
          </a:bodyPr>
          <a:lstStyle/>
          <a:p>
            <a:pPr algn="l">
              <a:defRPr sz="1250" b="0">
                <a:solidFill>
                  <a:srgbClr val="666666"/>
                </a:solidFill>
                <a:latin typeface="Calibri"/>
              </a:defRPr>
            </a:pPr>
            <a:r>
              <a:t>Same checkpoints, same 25 step budget. Only the attacker learning rate varies.</a:t>
            </a:r>
          </a:p>
        </p:txBody>
      </p:sp>
      <p:pic>
        <p:nvPicPr>
          <p:cNvPr id="4" name="Picture 3" descr="fig_calibration.png"/>
          <p:cNvPicPr>
            <a:picLocks noChangeAspect="1"/>
          </p:cNvPicPr>
          <p:nvPr/>
        </p:nvPicPr>
        <p:blipFill>
          <a:blip r:embed="rId2"/>
          <a:stretch>
            <a:fillRect/>
          </a:stretch>
        </p:blipFill>
        <p:spPr>
          <a:xfrm>
            <a:off x="731520" y="1828800"/>
            <a:ext cx="7338159" cy="4206240"/>
          </a:xfrm>
          <a:prstGeom prst="rect">
            <a:avLst/>
          </a:prstGeom>
        </p:spPr>
      </p:pic>
      <p:sp>
        <p:nvSpPr>
          <p:cNvPr id="5" name="TextBox 4"/>
          <p:cNvSpPr txBox="1"/>
          <p:nvPr/>
        </p:nvSpPr>
        <p:spPr>
          <a:xfrm>
            <a:off x="8613648" y="2011680"/>
            <a:ext cx="3200400" cy="274320"/>
          </a:xfrm>
          <a:prstGeom prst="rect">
            <a:avLst/>
          </a:prstGeom>
          <a:noFill/>
        </p:spPr>
        <p:txBody>
          <a:bodyPr wrap="square">
            <a:spAutoFit/>
          </a:bodyPr>
          <a:lstStyle/>
          <a:p>
            <a:pPr algn="l">
              <a:defRPr sz="1200" b="1">
                <a:solidFill>
                  <a:srgbClr val="1A1A1A"/>
                </a:solidFill>
                <a:latin typeface="Calibri"/>
              </a:defRPr>
            </a:pPr>
            <a:r>
              <a:t>The same checkpoint, two attacker settings</a:t>
            </a:r>
          </a:p>
        </p:txBody>
      </p:sp>
      <p:sp>
        <p:nvSpPr>
          <p:cNvPr id="6" name="TextBox 5"/>
          <p:cNvSpPr txBox="1"/>
          <p:nvPr/>
        </p:nvSpPr>
        <p:spPr>
          <a:xfrm>
            <a:off x="8613648" y="2560320"/>
            <a:ext cx="3200400" cy="274320"/>
          </a:xfrm>
          <a:prstGeom prst="rect">
            <a:avLst/>
          </a:prstGeom>
          <a:noFill/>
        </p:spPr>
        <p:txBody>
          <a:bodyPr wrap="square">
            <a:spAutoFit/>
          </a:bodyPr>
          <a:lstStyle/>
          <a:p>
            <a:pPr algn="l">
              <a:defRPr sz="1150" b="0">
                <a:solidFill>
                  <a:srgbClr val="666666"/>
                </a:solidFill>
                <a:latin typeface="Calibri"/>
              </a:defRPr>
            </a:pPr>
            <a:r>
              <a:t>UTRAP K=0 build 0, worst observed H</a:t>
            </a:r>
          </a:p>
        </p:txBody>
      </p:sp>
      <p:sp>
        <p:nvSpPr>
          <p:cNvPr id="7" name="TextBox 6"/>
          <p:cNvSpPr txBox="1"/>
          <p:nvPr/>
        </p:nvSpPr>
        <p:spPr>
          <a:xfrm>
            <a:off x="8613648" y="2871215"/>
            <a:ext cx="3200400" cy="274320"/>
          </a:xfrm>
          <a:prstGeom prst="rect">
            <a:avLst/>
          </a:prstGeom>
          <a:noFill/>
        </p:spPr>
        <p:txBody>
          <a:bodyPr wrap="square">
            <a:spAutoFit/>
          </a:bodyPr>
          <a:lstStyle/>
          <a:p>
            <a:pPr algn="l">
              <a:defRPr sz="1250" b="1">
                <a:solidFill>
                  <a:srgbClr val="1A1A1A"/>
                </a:solidFill>
                <a:latin typeface="Calibri"/>
              </a:defRPr>
            </a:pPr>
            <a:r>
              <a:t>lr 1e-5   -&gt;   0.333</a:t>
            </a:r>
          </a:p>
        </p:txBody>
      </p:sp>
      <p:sp>
        <p:nvSpPr>
          <p:cNvPr id="8" name="TextBox 7"/>
          <p:cNvSpPr txBox="1"/>
          <p:nvPr/>
        </p:nvSpPr>
        <p:spPr>
          <a:xfrm>
            <a:off x="8613648" y="3163824"/>
            <a:ext cx="3200400" cy="274320"/>
          </a:xfrm>
          <a:prstGeom prst="rect">
            <a:avLst/>
          </a:prstGeom>
          <a:noFill/>
        </p:spPr>
        <p:txBody>
          <a:bodyPr wrap="square">
            <a:spAutoFit/>
          </a:bodyPr>
          <a:lstStyle/>
          <a:p>
            <a:pPr algn="l">
              <a:defRPr sz="1250" b="1">
                <a:solidFill>
                  <a:srgbClr val="9E2A2B"/>
                </a:solidFill>
                <a:latin typeface="Calibri"/>
              </a:defRPr>
            </a:pPr>
            <a:r>
              <a:t>lr 5e-5   -&gt;   1.000</a:t>
            </a:r>
          </a:p>
        </p:txBody>
      </p:sp>
      <p:sp>
        <p:nvSpPr>
          <p:cNvPr id="9" name="TextBox 8"/>
          <p:cNvSpPr txBox="1"/>
          <p:nvPr/>
        </p:nvSpPr>
        <p:spPr>
          <a:xfrm>
            <a:off x="8613648" y="3749039"/>
            <a:ext cx="3200400" cy="274320"/>
          </a:xfrm>
          <a:prstGeom prst="rect">
            <a:avLst/>
          </a:prstGeom>
          <a:noFill/>
        </p:spPr>
        <p:txBody>
          <a:bodyPr wrap="square">
            <a:spAutoFit/>
          </a:bodyPr>
          <a:lstStyle/>
          <a:p>
            <a:pPr algn="l">
              <a:defRPr sz="1250" b="1">
                <a:solidFill>
                  <a:srgbClr val="9E2A2B"/>
                </a:solidFill>
                <a:latin typeface="Calibri"/>
              </a:defRPr>
            </a:pPr>
            <a:r>
              <a:t>What this means</a:t>
            </a:r>
          </a:p>
        </p:txBody>
      </p:sp>
      <p:sp>
        <p:nvSpPr>
          <p:cNvPr id="10" name="TextBox 9"/>
          <p:cNvSpPr txBox="1"/>
          <p:nvPr/>
        </p:nvSpPr>
        <p:spPr>
          <a:xfrm>
            <a:off x="8613648" y="4059935"/>
            <a:ext cx="3200400" cy="274320"/>
          </a:xfrm>
          <a:prstGeom prst="rect">
            <a:avLst/>
          </a:prstGeom>
          <a:noFill/>
        </p:spPr>
        <p:txBody>
          <a:bodyPr wrap="square">
            <a:spAutoFit/>
          </a:bodyPr>
          <a:lstStyle/>
          <a:p>
            <a:pPr algn="l">
              <a:defRPr sz="1150" b="0">
                <a:solidFill>
                  <a:srgbClr val="1A1A1A"/>
                </a:solidFill>
                <a:latin typeface="Calibri"/>
              </a:defRPr>
            </a:pPr>
            <a:r>
              <a:t>A defence can look resistant because the attacker was badly tuned. A larger learning rate is not automatically a stronger attack: effectiveness peaks and then falls.</a:t>
            </a:r>
          </a:p>
        </p:txBody>
      </p:sp>
      <p:sp>
        <p:nvSpPr>
          <p:cNvPr id="11" name="TextBox 10"/>
          <p:cNvSpPr txBox="1"/>
          <p:nvPr/>
        </p:nvSpPr>
        <p:spPr>
          <a:xfrm>
            <a:off x="8613648" y="4956048"/>
            <a:ext cx="3200400" cy="274320"/>
          </a:xfrm>
          <a:prstGeom prst="rect">
            <a:avLst/>
          </a:prstGeom>
          <a:noFill/>
        </p:spPr>
        <p:txBody>
          <a:bodyPr wrap="square">
            <a:spAutoFit/>
          </a:bodyPr>
          <a:lstStyle/>
          <a:p>
            <a:pPr algn="l">
              <a:defRPr sz="1150" b="1">
                <a:solidFill>
                  <a:srgbClr val="1A1A1A"/>
                </a:solidFill>
                <a:latin typeface="Calibri"/>
              </a:defRPr>
            </a:pPr>
            <a:r>
              <a:t>Any H measured at a single learning rate is a lower bound on recovery, not a robustness estimate.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384048"/>
            <a:ext cx="10911535" cy="731520"/>
          </a:xfrm>
          <a:prstGeom prst="rect">
            <a:avLst/>
          </a:prstGeom>
          <a:noFill/>
        </p:spPr>
        <p:txBody>
          <a:bodyPr wrap="none">
            <a:spAutoFit/>
          </a:bodyPr>
          <a:lstStyle/>
          <a:p>
            <a:pPr>
              <a:defRPr sz="2600" b="1">
                <a:solidFill>
                  <a:srgbClr val="1A1A1A"/>
                </a:solidFill>
                <a:latin typeface="Calibri"/>
              </a:defRPr>
            </a:pPr>
            <a:r>
              <a:t>A published method under our evaluation: IMMA</a:t>
            </a:r>
          </a:p>
        </p:txBody>
      </p:sp>
      <p:sp>
        <p:nvSpPr>
          <p:cNvPr id="3" name="TextBox 2"/>
          <p:cNvSpPr txBox="1"/>
          <p:nvPr/>
        </p:nvSpPr>
        <p:spPr>
          <a:xfrm>
            <a:off x="713232" y="1389888"/>
            <a:ext cx="10789920" cy="274320"/>
          </a:xfrm>
          <a:prstGeom prst="rect">
            <a:avLst/>
          </a:prstGeom>
          <a:noFill/>
        </p:spPr>
        <p:txBody>
          <a:bodyPr wrap="square">
            <a:spAutoFit/>
          </a:bodyPr>
          <a:lstStyle/>
          <a:p>
            <a:pPr algn="l">
              <a:defRPr sz="1250" b="0">
                <a:solidFill>
                  <a:srgbClr val="666666"/>
                </a:solidFill>
                <a:latin typeface="Calibri"/>
              </a:defRPr>
            </a:pPr>
            <a:r>
              <a:t>Official IMMA code at the authors' documented training budget, on Van Gogh style. Our dataset and our evaluation, not a reproduction of the paper's reported results.</a:t>
            </a:r>
          </a:p>
        </p:txBody>
      </p:sp>
      <p:sp>
        <p:nvSpPr>
          <p:cNvPr id="4" name="TextBox 3"/>
          <p:cNvSpPr txBox="1"/>
          <p:nvPr/>
        </p:nvSpPr>
        <p:spPr>
          <a:xfrm>
            <a:off x="2331720" y="1874519"/>
            <a:ext cx="1691640" cy="274320"/>
          </a:xfrm>
          <a:prstGeom prst="rect">
            <a:avLst/>
          </a:prstGeom>
          <a:noFill/>
        </p:spPr>
        <p:txBody>
          <a:bodyPr wrap="square">
            <a:spAutoFit/>
          </a:bodyPr>
          <a:lstStyle/>
          <a:p>
            <a:pPr algn="ctr">
              <a:defRPr sz="1050" b="1">
                <a:solidFill>
                  <a:srgbClr val="1A1A1A"/>
                </a:solidFill>
                <a:latin typeface="Calibri"/>
              </a:defRPr>
            </a:pPr>
            <a:r>
              <a:t>SD-1.4</a:t>
            </a:r>
          </a:p>
          <a:p>
            <a:pPr algn="ctr">
              <a:defRPr sz="1050" b="1">
                <a:solidFill>
                  <a:srgbClr val="1A1A1A"/>
                </a:solidFill>
                <a:latin typeface="Calibri"/>
              </a:defRPr>
            </a:pPr>
            <a:r>
              <a:t>(original)</a:t>
            </a:r>
          </a:p>
        </p:txBody>
      </p:sp>
      <p:sp>
        <p:nvSpPr>
          <p:cNvPr id="5" name="TextBox 4"/>
          <p:cNvSpPr txBox="1"/>
          <p:nvPr/>
        </p:nvSpPr>
        <p:spPr>
          <a:xfrm>
            <a:off x="4206240" y="1874519"/>
            <a:ext cx="1691640" cy="274320"/>
          </a:xfrm>
          <a:prstGeom prst="rect">
            <a:avLst/>
          </a:prstGeom>
          <a:noFill/>
        </p:spPr>
        <p:txBody>
          <a:bodyPr wrap="square">
            <a:spAutoFit/>
          </a:bodyPr>
          <a:lstStyle/>
          <a:p>
            <a:pPr algn="ctr">
              <a:defRPr sz="1050" b="1">
                <a:solidFill>
                  <a:srgbClr val="1A1A1A"/>
                </a:solidFill>
                <a:latin typeface="Calibri"/>
              </a:defRPr>
            </a:pPr>
            <a:r>
              <a:t>ESD teacher</a:t>
            </a:r>
          </a:p>
          <a:p>
            <a:pPr algn="ctr">
              <a:defRPr sz="1050" b="1">
                <a:solidFill>
                  <a:srgbClr val="1A1A1A"/>
                </a:solidFill>
                <a:latin typeface="Calibri"/>
              </a:defRPr>
            </a:pPr>
            <a:r>
              <a:t>(authors' checkpoint)</a:t>
            </a:r>
          </a:p>
        </p:txBody>
      </p:sp>
      <p:sp>
        <p:nvSpPr>
          <p:cNvPr id="6" name="TextBox 5"/>
          <p:cNvSpPr txBox="1"/>
          <p:nvPr/>
        </p:nvSpPr>
        <p:spPr>
          <a:xfrm>
            <a:off x="6080760" y="1874519"/>
            <a:ext cx="1691640" cy="274320"/>
          </a:xfrm>
          <a:prstGeom prst="rect">
            <a:avLst/>
          </a:prstGeom>
          <a:noFill/>
        </p:spPr>
        <p:txBody>
          <a:bodyPr wrap="square">
            <a:spAutoFit/>
          </a:bodyPr>
          <a:lstStyle/>
          <a:p>
            <a:pPr algn="ctr">
              <a:defRPr sz="1050" b="1">
                <a:solidFill>
                  <a:srgbClr val="1A1A1A"/>
                </a:solidFill>
                <a:latin typeface="Calibri"/>
              </a:defRPr>
            </a:pPr>
            <a:r>
              <a:t>after IMMA</a:t>
            </a:r>
          </a:p>
          <a:p>
            <a:pPr algn="ctr">
              <a:defRPr sz="1050" b="1">
                <a:solidFill>
                  <a:srgbClr val="1A1A1A"/>
                </a:solidFill>
                <a:latin typeface="Calibri"/>
              </a:defRPr>
            </a:pPr>
            <a:r>
              <a:t>(official code)</a:t>
            </a:r>
          </a:p>
        </p:txBody>
      </p:sp>
      <p:sp>
        <p:nvSpPr>
          <p:cNvPr id="7" name="TextBox 6"/>
          <p:cNvSpPr txBox="1"/>
          <p:nvPr/>
        </p:nvSpPr>
        <p:spPr>
          <a:xfrm>
            <a:off x="749808" y="3049523"/>
            <a:ext cx="1508760" cy="274320"/>
          </a:xfrm>
          <a:prstGeom prst="rect">
            <a:avLst/>
          </a:prstGeom>
          <a:noFill/>
        </p:spPr>
        <p:txBody>
          <a:bodyPr wrap="square">
            <a:spAutoFit/>
          </a:bodyPr>
          <a:lstStyle/>
          <a:p>
            <a:pPr algn="r">
              <a:defRPr sz="1050" b="0">
                <a:solidFill>
                  <a:srgbClr val="666666"/>
                </a:solidFill>
                <a:latin typeface="Calibri"/>
              </a:defRPr>
            </a:pPr>
            <a:r>
              <a:t>prompt:</a:t>
            </a:r>
          </a:p>
          <a:p>
            <a:pPr algn="r">
              <a:defRPr sz="1050" b="0">
                <a:solidFill>
                  <a:srgbClr val="666666"/>
                </a:solidFill>
                <a:latin typeface="Calibri"/>
              </a:defRPr>
            </a:pPr>
            <a:r>
              <a:t>"a painting in the</a:t>
            </a:r>
          </a:p>
          <a:p>
            <a:pPr algn="r">
              <a:defRPr sz="1050" b="0">
                <a:solidFill>
                  <a:srgbClr val="666666"/>
                </a:solidFill>
                <a:latin typeface="Calibri"/>
              </a:defRPr>
            </a:pPr>
            <a:r>
              <a:t>style of Van Gogh"</a:t>
            </a:r>
          </a:p>
        </p:txBody>
      </p:sp>
      <p:pic>
        <p:nvPicPr>
          <p:cNvPr id="8" name="Picture 7" descr="base__vangogh_target__i0.png"/>
          <p:cNvPicPr>
            <a:picLocks noChangeAspect="1"/>
          </p:cNvPicPr>
          <p:nvPr/>
        </p:nvPicPr>
        <p:blipFill>
          <a:blip r:embed="rId2"/>
          <a:stretch>
            <a:fillRect/>
          </a:stretch>
        </p:blipFill>
        <p:spPr>
          <a:xfrm>
            <a:off x="2331720" y="2404872"/>
            <a:ext cx="1691640" cy="1691640"/>
          </a:xfrm>
          <a:prstGeom prst="rect">
            <a:avLst/>
          </a:prstGeom>
        </p:spPr>
      </p:pic>
      <p:pic>
        <p:nvPicPr>
          <p:cNvPr id="9" name="Picture 8" descr="vg_esd__vangogh_target__i0.png"/>
          <p:cNvPicPr>
            <a:picLocks noChangeAspect="1"/>
          </p:cNvPicPr>
          <p:nvPr/>
        </p:nvPicPr>
        <p:blipFill>
          <a:blip r:embed="rId3"/>
          <a:stretch>
            <a:fillRect/>
          </a:stretch>
        </p:blipFill>
        <p:spPr>
          <a:xfrm>
            <a:off x="4206240" y="2404872"/>
            <a:ext cx="1691640" cy="1691640"/>
          </a:xfrm>
          <a:prstGeom prst="rect">
            <a:avLst/>
          </a:prstGeom>
        </p:spPr>
      </p:pic>
      <p:pic>
        <p:nvPicPr>
          <p:cNvPr id="10" name="Picture 9" descr="vg_imma__vangogh_target__i0.png"/>
          <p:cNvPicPr>
            <a:picLocks noChangeAspect="1"/>
          </p:cNvPicPr>
          <p:nvPr/>
        </p:nvPicPr>
        <p:blipFill>
          <a:blip r:embed="rId4"/>
          <a:stretch>
            <a:fillRect/>
          </a:stretch>
        </p:blipFill>
        <p:spPr>
          <a:xfrm>
            <a:off x="6080760" y="2404872"/>
            <a:ext cx="1691640" cy="1691640"/>
          </a:xfrm>
          <a:prstGeom prst="rect">
            <a:avLst/>
          </a:prstGeom>
        </p:spPr>
      </p:pic>
      <p:pic>
        <p:nvPicPr>
          <p:cNvPr id="11" name="Picture 10" descr="fig_imma.png"/>
          <p:cNvPicPr>
            <a:picLocks noChangeAspect="1"/>
          </p:cNvPicPr>
          <p:nvPr/>
        </p:nvPicPr>
        <p:blipFill>
          <a:blip r:embed="rId5"/>
          <a:stretch>
            <a:fillRect/>
          </a:stretch>
        </p:blipFill>
        <p:spPr>
          <a:xfrm>
            <a:off x="7863840" y="1810512"/>
            <a:ext cx="8256457" cy="3291840"/>
          </a:xfrm>
          <a:prstGeom prst="rect">
            <a:avLst/>
          </a:prstGeom>
        </p:spPr>
      </p:pic>
      <p:sp>
        <p:nvSpPr>
          <p:cNvPr id="12" name="TextBox 11"/>
          <p:cNvSpPr txBox="1"/>
          <p:nvPr/>
        </p:nvSpPr>
        <p:spPr>
          <a:xfrm>
            <a:off x="822960" y="4160520"/>
            <a:ext cx="6766560" cy="274320"/>
          </a:xfrm>
          <a:prstGeom prst="rect">
            <a:avLst/>
          </a:prstGeom>
          <a:noFill/>
        </p:spPr>
        <p:txBody>
          <a:bodyPr wrap="square">
            <a:spAutoFit/>
          </a:bodyPr>
          <a:lstStyle/>
          <a:p>
            <a:pPr algn="l">
              <a:defRPr sz="1250" b="1">
                <a:solidFill>
                  <a:srgbClr val="1A1A1A"/>
                </a:solidFill>
                <a:latin typeface="Calibri"/>
              </a:defRPr>
            </a:pPr>
            <a:r>
              <a:t>Verified from the records</a:t>
            </a:r>
          </a:p>
        </p:txBody>
      </p:sp>
      <p:sp>
        <p:nvSpPr>
          <p:cNvPr id="13" name="TextBox 12"/>
          <p:cNvSpPr txBox="1"/>
          <p:nvPr/>
        </p:nvSpPr>
        <p:spPr>
          <a:xfrm>
            <a:off x="822960" y="4471416"/>
            <a:ext cx="6766560" cy="274320"/>
          </a:xfrm>
          <a:prstGeom prst="rect">
            <a:avLst/>
          </a:prstGeom>
          <a:noFill/>
        </p:spPr>
        <p:txBody>
          <a:bodyPr wrap="square">
            <a:spAutoFit/>
          </a:bodyPr>
          <a:lstStyle/>
          <a:p>
            <a:pPr algn="l">
              <a:defRPr sz="1200" b="0">
                <a:solidFill>
                  <a:srgbClr val="1A1A1A"/>
                </a:solidFill>
                <a:latin typeface="Calibri"/>
              </a:defRPr>
            </a:pPr>
            <a:r>
              <a:t>Before attack: target 0.2000, retain8 0.9083</a:t>
            </a:r>
          </a:p>
        </p:txBody>
      </p:sp>
      <p:sp>
        <p:nvSpPr>
          <p:cNvPr id="14" name="TextBox 13"/>
          <p:cNvSpPr txBox="1"/>
          <p:nvPr/>
        </p:nvSpPr>
        <p:spPr>
          <a:xfrm>
            <a:off x="822960" y="4764024"/>
            <a:ext cx="6766560" cy="274320"/>
          </a:xfrm>
          <a:prstGeom prst="rect">
            <a:avLst/>
          </a:prstGeom>
          <a:noFill/>
        </p:spPr>
        <p:txBody>
          <a:bodyPr wrap="square">
            <a:spAutoFit/>
          </a:bodyPr>
          <a:lstStyle/>
          <a:p>
            <a:pPr algn="l">
              <a:defRPr sz="1200" b="0">
                <a:solidFill>
                  <a:srgbClr val="1A1A1A"/>
                </a:solidFill>
                <a:latin typeface="Calibri"/>
              </a:defRPr>
            </a:pPr>
            <a:r>
              <a:t>After a 300 step attack at lr 1e-5, H = 0.867,  1.000,  1.000</a:t>
            </a:r>
          </a:p>
        </p:txBody>
      </p:sp>
      <p:sp>
        <p:nvSpPr>
          <p:cNvPr id="15" name="TextBox 14"/>
          <p:cNvSpPr txBox="1"/>
          <p:nvPr/>
        </p:nvSpPr>
        <p:spPr>
          <a:xfrm>
            <a:off x="822960" y="5056632"/>
            <a:ext cx="6766560" cy="274320"/>
          </a:xfrm>
          <a:prstGeom prst="rect">
            <a:avLst/>
          </a:prstGeom>
          <a:noFill/>
        </p:spPr>
        <p:txBody>
          <a:bodyPr wrap="square">
            <a:spAutoFit/>
          </a:bodyPr>
          <a:lstStyle/>
          <a:p>
            <a:pPr algn="l">
              <a:defRPr sz="1200" b="0">
                <a:solidFill>
                  <a:srgbClr val="1A1A1A"/>
                </a:solidFill>
                <a:latin typeface="Calibri"/>
              </a:defRPr>
            </a:pPr>
            <a:r>
              <a:t>3 attacks on ONE defence build. 3 of 3 passed the validity gate.</a:t>
            </a:r>
          </a:p>
        </p:txBody>
      </p:sp>
      <p:sp>
        <p:nvSpPr>
          <p:cNvPr id="16" name="TextBox 15"/>
          <p:cNvSpPr txBox="1"/>
          <p:nvPr/>
        </p:nvSpPr>
        <p:spPr>
          <a:xfrm>
            <a:off x="822960" y="5404104"/>
            <a:ext cx="6766560" cy="274320"/>
          </a:xfrm>
          <a:prstGeom prst="rect">
            <a:avLst/>
          </a:prstGeom>
          <a:noFill/>
        </p:spPr>
        <p:txBody>
          <a:bodyPr wrap="square">
            <a:spAutoFit/>
          </a:bodyPr>
          <a:lstStyle/>
          <a:p>
            <a:pPr algn="l">
              <a:defRPr sz="1100" b="0">
                <a:solidFill>
                  <a:srgbClr val="666666"/>
                </a:solidFill>
                <a:latin typeface="Calibri"/>
              </a:defRPr>
            </a:pPr>
            <a:r>
              <a:t>Official code execution on our benchmark. Not ranked against the church results, which were produced under different conditions.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384048"/>
            <a:ext cx="10911535" cy="731520"/>
          </a:xfrm>
          <a:prstGeom prst="rect">
            <a:avLst/>
          </a:prstGeom>
          <a:noFill/>
        </p:spPr>
        <p:txBody>
          <a:bodyPr wrap="none">
            <a:spAutoFit/>
          </a:bodyPr>
          <a:lstStyle/>
          <a:p>
            <a:pPr>
              <a:defRPr sz="2600" b="1">
                <a:solidFill>
                  <a:srgbClr val="1A1A1A"/>
                </a:solidFill>
                <a:latin typeface="Calibri"/>
              </a:defRPr>
            </a:pPr>
            <a:r>
              <a:t>What we learned, and the next decision</a:t>
            </a:r>
          </a:p>
        </p:txBody>
      </p:sp>
      <p:sp>
        <p:nvSpPr>
          <p:cNvPr id="3" name="TextBox 2"/>
          <p:cNvSpPr txBox="1"/>
          <p:nvPr/>
        </p:nvSpPr>
        <p:spPr>
          <a:xfrm>
            <a:off x="731520" y="1481328"/>
            <a:ext cx="10698480" cy="274320"/>
          </a:xfrm>
          <a:prstGeom prst="rect">
            <a:avLst/>
          </a:prstGeom>
          <a:noFill/>
        </p:spPr>
        <p:txBody>
          <a:bodyPr wrap="square">
            <a:spAutoFit/>
          </a:bodyPr>
          <a:lstStyle/>
          <a:p>
            <a:pPr algn="l">
              <a:defRPr sz="1400" b="1">
                <a:solidFill>
                  <a:srgbClr val="9E2A2B"/>
                </a:solidFill>
                <a:latin typeface="Calibri"/>
              </a:defRPr>
            </a:pPr>
            <a:r>
              <a:t>1.  Forgetting did not survive relearning, for any method we tested.</a:t>
            </a:r>
          </a:p>
        </p:txBody>
      </p:sp>
      <p:sp>
        <p:nvSpPr>
          <p:cNvPr id="4" name="TextBox 3"/>
          <p:cNvSpPr txBox="1"/>
          <p:nvPr/>
        </p:nvSpPr>
        <p:spPr>
          <a:xfrm>
            <a:off x="731520" y="1810512"/>
            <a:ext cx="10698480" cy="274320"/>
          </a:xfrm>
          <a:prstGeom prst="rect">
            <a:avLst/>
          </a:prstGeom>
          <a:noFill/>
        </p:spPr>
        <p:txBody>
          <a:bodyPr wrap="square">
            <a:spAutoFit/>
          </a:bodyPr>
          <a:lstStyle/>
          <a:p>
            <a:pPr algn="l">
              <a:defRPr sz="1250" b="0">
                <a:solidFill>
                  <a:srgbClr val="1A1A1A"/>
                </a:solidFill>
                <a:latin typeface="Calibri"/>
              </a:defRPr>
            </a:pPr>
            <a:r>
              <a:t>Across ESD, FRAG/FRP, UCE, GIFT, adapted IMMA and both UTRAP configurations, a 25 step fine tune restored the concept once the attacker was properly configured.</a:t>
            </a:r>
          </a:p>
        </p:txBody>
      </p:sp>
      <p:sp>
        <p:nvSpPr>
          <p:cNvPr id="5" name="TextBox 4"/>
          <p:cNvSpPr txBox="1"/>
          <p:nvPr/>
        </p:nvSpPr>
        <p:spPr>
          <a:xfrm>
            <a:off x="731520" y="2596896"/>
            <a:ext cx="10698480" cy="274320"/>
          </a:xfrm>
          <a:prstGeom prst="rect">
            <a:avLst/>
          </a:prstGeom>
          <a:noFill/>
        </p:spPr>
        <p:txBody>
          <a:bodyPr wrap="square">
            <a:spAutoFit/>
          </a:bodyPr>
          <a:lstStyle/>
          <a:p>
            <a:pPr algn="l">
              <a:defRPr sz="1400" b="1">
                <a:solidFill>
                  <a:srgbClr val="9E2A2B"/>
                </a:solidFill>
                <a:latin typeface="Calibri"/>
              </a:defRPr>
            </a:pPr>
            <a:r>
              <a:t>2.  Attack anticipation produced no measurable benefit.</a:t>
            </a:r>
          </a:p>
        </p:txBody>
      </p:sp>
      <p:sp>
        <p:nvSpPr>
          <p:cNvPr id="6" name="TextBox 5"/>
          <p:cNvSpPr txBox="1"/>
          <p:nvPr/>
        </p:nvSpPr>
        <p:spPr>
          <a:xfrm>
            <a:off x="731520" y="2926079"/>
            <a:ext cx="10698480" cy="274320"/>
          </a:xfrm>
          <a:prstGeom prst="rect">
            <a:avLst/>
          </a:prstGeom>
          <a:noFill/>
        </p:spPr>
        <p:txBody>
          <a:bodyPr wrap="square">
            <a:spAutoFit/>
          </a:bodyPr>
          <a:lstStyle/>
          <a:p>
            <a:pPr algn="l">
              <a:defRPr sz="1250" b="0">
                <a:solidFill>
                  <a:srgbClr val="1A1A1A"/>
                </a:solidFill>
                <a:latin typeface="Calibri"/>
              </a:defRPr>
            </a:pPr>
            <a:r>
              <a:t>At matched outer updates, with roughly three times the training samples, K=8 was indistinguishable from leaving the teacher untouched, across three independent builds.</a:t>
            </a:r>
          </a:p>
        </p:txBody>
      </p:sp>
      <p:sp>
        <p:nvSpPr>
          <p:cNvPr id="7" name="TextBox 6"/>
          <p:cNvSpPr txBox="1"/>
          <p:nvPr/>
        </p:nvSpPr>
        <p:spPr>
          <a:xfrm>
            <a:off x="731520" y="3712463"/>
            <a:ext cx="10698480" cy="274320"/>
          </a:xfrm>
          <a:prstGeom prst="rect">
            <a:avLst/>
          </a:prstGeom>
          <a:noFill/>
        </p:spPr>
        <p:txBody>
          <a:bodyPr wrap="square">
            <a:spAutoFit/>
          </a:bodyPr>
          <a:lstStyle/>
          <a:p>
            <a:pPr algn="l">
              <a:defRPr sz="1400" b="1">
                <a:solidFill>
                  <a:srgbClr val="9E2A2B"/>
                </a:solidFill>
                <a:latin typeface="Calibri"/>
              </a:defRPr>
            </a:pPr>
            <a:r>
              <a:t>3.  Apparent robustness tracked attacker tuning, not defence strength.</a:t>
            </a:r>
          </a:p>
        </p:txBody>
      </p:sp>
      <p:sp>
        <p:nvSpPr>
          <p:cNvPr id="8" name="TextBox 7"/>
          <p:cNvSpPr txBox="1"/>
          <p:nvPr/>
        </p:nvSpPr>
        <p:spPr>
          <a:xfrm>
            <a:off x="731520" y="4041648"/>
            <a:ext cx="10698480" cy="274320"/>
          </a:xfrm>
          <a:prstGeom prst="rect">
            <a:avLst/>
          </a:prstGeom>
          <a:noFill/>
        </p:spPr>
        <p:txBody>
          <a:bodyPr wrap="square">
            <a:spAutoFit/>
          </a:bodyPr>
          <a:lstStyle/>
          <a:p>
            <a:pPr algn="l">
              <a:defRPr sz="1250" b="0">
                <a:solidFill>
                  <a:srgbClr val="1A1A1A"/>
                </a:solidFill>
                <a:latin typeface="Calibri"/>
              </a:defRPr>
            </a:pPr>
            <a:r>
              <a:t>The same checkpoint moved from apparently resistant to fully recovered when the attacker learning rate changed at an identical step budget. We were misled by this ourselves before sweeping the attacker.</a:t>
            </a:r>
          </a:p>
        </p:txBody>
      </p:sp>
      <p:sp>
        <p:nvSpPr>
          <p:cNvPr id="9" name="TextBox 8"/>
          <p:cNvSpPr txBox="1"/>
          <p:nvPr/>
        </p:nvSpPr>
        <p:spPr>
          <a:xfrm>
            <a:off x="731520" y="4919471"/>
            <a:ext cx="10698480" cy="274320"/>
          </a:xfrm>
          <a:prstGeom prst="rect">
            <a:avLst/>
          </a:prstGeom>
          <a:noFill/>
        </p:spPr>
        <p:txBody>
          <a:bodyPr wrap="square">
            <a:spAutoFit/>
          </a:bodyPr>
          <a:lstStyle/>
          <a:p>
            <a:pPr algn="l">
              <a:defRPr sz="1350" b="1">
                <a:solidFill>
                  <a:srgbClr val="1A1A1A"/>
                </a:solidFill>
                <a:latin typeface="Calibri"/>
              </a:defRPr>
            </a:pPr>
            <a:r>
              <a:t>UTRAP does not currently demonstrate a repeatable advantage, and we are not presenting it as one.</a:t>
            </a:r>
          </a:p>
        </p:txBody>
      </p:sp>
      <p:sp>
        <p:nvSpPr>
          <p:cNvPr id="10" name="TextBox 9"/>
          <p:cNvSpPr txBox="1"/>
          <p:nvPr/>
        </p:nvSpPr>
        <p:spPr>
          <a:xfrm>
            <a:off x="731520" y="5358383"/>
            <a:ext cx="10698480" cy="274320"/>
          </a:xfrm>
          <a:prstGeom prst="rect">
            <a:avLst/>
          </a:prstGeom>
          <a:noFill/>
        </p:spPr>
        <p:txBody>
          <a:bodyPr wrap="square">
            <a:spAutoFit/>
          </a:bodyPr>
          <a:lstStyle/>
          <a:p>
            <a:pPr algn="l">
              <a:defRPr sz="1250" b="0">
                <a:solidFill>
                  <a:srgbClr val="1A1A1A"/>
                </a:solidFill>
                <a:latin typeface="Calibri"/>
              </a:defRPr>
            </a:pPr>
            <a:r>
              <a:t>Next experiment: tune the attacker against our strongest configuration with the same effort we spend tuning the defence, instead of at a fixed learning rate. If the concept still returns, the conclusion is that this family of defences does not deliver durable forgetting, and that is a result worth reporting on its own.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58368" y="384048"/>
            <a:ext cx="10911535" cy="731520"/>
          </a:xfrm>
          <a:prstGeom prst="rect">
            <a:avLst/>
          </a:prstGeom>
          <a:noFill/>
        </p:spPr>
        <p:txBody>
          <a:bodyPr wrap="none">
            <a:spAutoFit/>
          </a:bodyPr>
          <a:lstStyle/>
          <a:p>
            <a:pPr>
              <a:defRPr sz="2600" b="1">
                <a:solidFill>
                  <a:srgbClr val="1A1A1A"/>
                </a:solidFill>
                <a:latin typeface="Calibri"/>
              </a:defRPr>
            </a:pPr>
            <a:r>
              <a:t>References</a:t>
            </a:r>
          </a:p>
        </p:txBody>
      </p:sp>
      <p:sp>
        <p:nvSpPr>
          <p:cNvPr id="3" name="TextBox 2"/>
          <p:cNvSpPr txBox="1"/>
          <p:nvPr/>
        </p:nvSpPr>
        <p:spPr>
          <a:xfrm>
            <a:off x="658368" y="1298448"/>
            <a:ext cx="5440680" cy="274320"/>
          </a:xfrm>
          <a:prstGeom prst="rect">
            <a:avLst/>
          </a:prstGeom>
          <a:noFill/>
        </p:spPr>
        <p:txBody>
          <a:bodyPr wrap="square">
            <a:spAutoFit/>
          </a:bodyPr>
          <a:lstStyle/>
          <a:p>
            <a:pPr algn="l">
              <a:defRPr sz="950" b="1">
                <a:solidFill>
                  <a:srgbClr val="1A1A1A"/>
                </a:solidFill>
                <a:latin typeface="Calibri"/>
              </a:defRPr>
            </a:pPr>
            <a:r>
              <a:t>Base model (Stable Diffusion v1.4)</a:t>
            </a:r>
          </a:p>
        </p:txBody>
      </p:sp>
      <p:sp>
        <p:nvSpPr>
          <p:cNvPr id="4" name="TextBox 3"/>
          <p:cNvSpPr txBox="1"/>
          <p:nvPr/>
        </p:nvSpPr>
        <p:spPr>
          <a:xfrm>
            <a:off x="658368" y="1490472"/>
            <a:ext cx="5440680" cy="274320"/>
          </a:xfrm>
          <a:prstGeom prst="rect">
            <a:avLst/>
          </a:prstGeom>
          <a:noFill/>
        </p:spPr>
        <p:txBody>
          <a:bodyPr wrap="square">
            <a:spAutoFit/>
          </a:bodyPr>
          <a:lstStyle/>
          <a:p>
            <a:pPr algn="l">
              <a:defRPr sz="830" b="0">
                <a:solidFill>
                  <a:srgbClr val="1A1A1A"/>
                </a:solidFill>
                <a:latin typeface="Calibri"/>
              </a:defRPr>
            </a:pPr>
            <a:r>
              <a:t>R. Rombach, A. Blattmann, D. Lorenz, P. Esser, B. Ommer. High-Resolution Image Synthesis with Latent Diffusion Models. IEEE/CVF Conference on Computer Vision and Pattern Recognition (CVPR), 2022. DOI: 10.1109/CVPR52688.2022.01042. arXiv:2112.10752</a:t>
            </a:r>
          </a:p>
        </p:txBody>
      </p:sp>
      <p:sp>
        <p:nvSpPr>
          <p:cNvPr id="5" name="TextBox 4"/>
          <p:cNvSpPr txBox="1"/>
          <p:nvPr/>
        </p:nvSpPr>
        <p:spPr>
          <a:xfrm>
            <a:off x="658368" y="1943100"/>
            <a:ext cx="5440680" cy="274320"/>
          </a:xfrm>
          <a:prstGeom prst="rect">
            <a:avLst/>
          </a:prstGeom>
          <a:noFill/>
        </p:spPr>
        <p:txBody>
          <a:bodyPr wrap="square">
            <a:spAutoFit/>
          </a:bodyPr>
          <a:lstStyle/>
          <a:p>
            <a:pPr algn="l">
              <a:defRPr sz="950" b="1">
                <a:solidFill>
                  <a:srgbClr val="1A1A1A"/>
                </a:solidFill>
                <a:latin typeface="Calibri"/>
              </a:defRPr>
            </a:pPr>
            <a:r>
              <a:t>Evaluator (CLIP)</a:t>
            </a:r>
          </a:p>
        </p:txBody>
      </p:sp>
      <p:sp>
        <p:nvSpPr>
          <p:cNvPr id="6" name="TextBox 5"/>
          <p:cNvSpPr txBox="1"/>
          <p:nvPr/>
        </p:nvSpPr>
        <p:spPr>
          <a:xfrm>
            <a:off x="658368" y="2135124"/>
            <a:ext cx="5440680" cy="274320"/>
          </a:xfrm>
          <a:prstGeom prst="rect">
            <a:avLst/>
          </a:prstGeom>
          <a:noFill/>
        </p:spPr>
        <p:txBody>
          <a:bodyPr wrap="square">
            <a:spAutoFit/>
          </a:bodyPr>
          <a:lstStyle/>
          <a:p>
            <a:pPr algn="l">
              <a:defRPr sz="830" b="0">
                <a:solidFill>
                  <a:srgbClr val="1A1A1A"/>
                </a:solidFill>
                <a:latin typeface="Calibri"/>
              </a:defRPr>
            </a:pPr>
            <a:r>
              <a:t>A. Radford, J. W. Kim, C. Hallacy, A. Ramesh, G. Goh, S. Agarwal, G. Sastry, A. Askell, P. Mishkin, J. Clark, G. Krueger, I. Sutskever. Learning Transferable Visual Models From Natural Language Supervision. International Conference on Machine Learning (ICML), PMLR 139:8748-8763, 2021. arXiv:2103.00020</a:t>
            </a:r>
          </a:p>
        </p:txBody>
      </p:sp>
      <p:sp>
        <p:nvSpPr>
          <p:cNvPr id="7" name="TextBox 6"/>
          <p:cNvSpPr txBox="1"/>
          <p:nvPr/>
        </p:nvSpPr>
        <p:spPr>
          <a:xfrm>
            <a:off x="658368" y="2711196"/>
            <a:ext cx="5440680" cy="274320"/>
          </a:xfrm>
          <a:prstGeom prst="rect">
            <a:avLst/>
          </a:prstGeom>
          <a:noFill/>
        </p:spPr>
        <p:txBody>
          <a:bodyPr wrap="square">
            <a:spAutoFit/>
          </a:bodyPr>
          <a:lstStyle/>
          <a:p>
            <a:pPr algn="l">
              <a:defRPr sz="950" b="1">
                <a:solidFill>
                  <a:srgbClr val="1A1A1A"/>
                </a:solidFill>
                <a:latin typeface="Calibri"/>
              </a:defRPr>
            </a:pPr>
            <a:r>
              <a:t>ESD</a:t>
            </a:r>
          </a:p>
        </p:txBody>
      </p:sp>
      <p:sp>
        <p:nvSpPr>
          <p:cNvPr id="8" name="TextBox 7"/>
          <p:cNvSpPr txBox="1"/>
          <p:nvPr/>
        </p:nvSpPr>
        <p:spPr>
          <a:xfrm>
            <a:off x="658368" y="2903220"/>
            <a:ext cx="5440680" cy="274320"/>
          </a:xfrm>
          <a:prstGeom prst="rect">
            <a:avLst/>
          </a:prstGeom>
          <a:noFill/>
        </p:spPr>
        <p:txBody>
          <a:bodyPr wrap="square">
            <a:spAutoFit/>
          </a:bodyPr>
          <a:lstStyle/>
          <a:p>
            <a:pPr algn="l">
              <a:defRPr sz="830" b="0">
                <a:solidFill>
                  <a:srgbClr val="1A1A1A"/>
                </a:solidFill>
                <a:latin typeface="Calibri"/>
              </a:defRPr>
            </a:pPr>
            <a:r>
              <a:t>R. Gandikota, J. Materzynska, J. Fiotto-Kaufman, D. Bau. Erasing Concepts from Diffusion Models. IEEE/CVF International Conference on Computer Vision (ICCV), 2023. arXiv:2303.07345. https://erasing.baulab.info/</a:t>
            </a:r>
          </a:p>
        </p:txBody>
      </p:sp>
      <p:sp>
        <p:nvSpPr>
          <p:cNvPr id="9" name="TextBox 8"/>
          <p:cNvSpPr txBox="1"/>
          <p:nvPr/>
        </p:nvSpPr>
        <p:spPr>
          <a:xfrm>
            <a:off x="658368" y="3355848"/>
            <a:ext cx="5440680" cy="274320"/>
          </a:xfrm>
          <a:prstGeom prst="rect">
            <a:avLst/>
          </a:prstGeom>
          <a:noFill/>
        </p:spPr>
        <p:txBody>
          <a:bodyPr wrap="square">
            <a:spAutoFit/>
          </a:bodyPr>
          <a:lstStyle/>
          <a:p>
            <a:pPr algn="l">
              <a:defRPr sz="950" b="1">
                <a:solidFill>
                  <a:srgbClr val="1A1A1A"/>
                </a:solidFill>
                <a:latin typeface="Calibri"/>
              </a:defRPr>
            </a:pPr>
            <a:r>
              <a:t>UCE</a:t>
            </a:r>
          </a:p>
        </p:txBody>
      </p:sp>
      <p:sp>
        <p:nvSpPr>
          <p:cNvPr id="10" name="TextBox 9"/>
          <p:cNvSpPr txBox="1"/>
          <p:nvPr/>
        </p:nvSpPr>
        <p:spPr>
          <a:xfrm>
            <a:off x="658368" y="3547872"/>
            <a:ext cx="5440680" cy="274320"/>
          </a:xfrm>
          <a:prstGeom prst="rect">
            <a:avLst/>
          </a:prstGeom>
          <a:noFill/>
        </p:spPr>
        <p:txBody>
          <a:bodyPr wrap="square">
            <a:spAutoFit/>
          </a:bodyPr>
          <a:lstStyle/>
          <a:p>
            <a:pPr algn="l">
              <a:defRPr sz="830" b="0">
                <a:solidFill>
                  <a:srgbClr val="1A1A1A"/>
                </a:solidFill>
                <a:latin typeface="Calibri"/>
              </a:defRPr>
            </a:pPr>
            <a:r>
              <a:t>R. Gandikota, H. Orgad, Y. Belinkov, J. Materzynska, D. Bau. Unified Concept Editing in Diffusion Models. IEEE/CVF Winter Conference on Applications of Computer Vision (WACV), 2024. arXiv:2308.14761. https://unified.baulab.info/</a:t>
            </a:r>
          </a:p>
        </p:txBody>
      </p:sp>
      <p:sp>
        <p:nvSpPr>
          <p:cNvPr id="11" name="TextBox 10"/>
          <p:cNvSpPr txBox="1"/>
          <p:nvPr/>
        </p:nvSpPr>
        <p:spPr>
          <a:xfrm>
            <a:off x="658368" y="4000500"/>
            <a:ext cx="5440680" cy="274320"/>
          </a:xfrm>
          <a:prstGeom prst="rect">
            <a:avLst/>
          </a:prstGeom>
          <a:noFill/>
        </p:spPr>
        <p:txBody>
          <a:bodyPr wrap="square">
            <a:spAutoFit/>
          </a:bodyPr>
          <a:lstStyle/>
          <a:p>
            <a:pPr algn="l">
              <a:defRPr sz="950" b="1">
                <a:solidFill>
                  <a:srgbClr val="1A1A1A"/>
                </a:solidFill>
                <a:latin typeface="Calibri"/>
              </a:defRPr>
            </a:pPr>
            <a:r>
              <a:t>IMMA</a:t>
            </a:r>
          </a:p>
        </p:txBody>
      </p:sp>
      <p:sp>
        <p:nvSpPr>
          <p:cNvPr id="12" name="TextBox 11"/>
          <p:cNvSpPr txBox="1"/>
          <p:nvPr/>
        </p:nvSpPr>
        <p:spPr>
          <a:xfrm>
            <a:off x="658368" y="4192524"/>
            <a:ext cx="5440680" cy="274320"/>
          </a:xfrm>
          <a:prstGeom prst="rect">
            <a:avLst/>
          </a:prstGeom>
          <a:noFill/>
        </p:spPr>
        <p:txBody>
          <a:bodyPr wrap="square">
            <a:spAutoFit/>
          </a:bodyPr>
          <a:lstStyle/>
          <a:p>
            <a:pPr algn="l">
              <a:defRPr sz="830" b="0">
                <a:solidFill>
                  <a:srgbClr val="1A1A1A"/>
                </a:solidFill>
                <a:latin typeface="Calibri"/>
              </a:defRPr>
            </a:pPr>
            <a:r>
              <a:t>A. Y. Zheng, R. A. Yeh. IMMA: Immunizing text-to-image Models against Malicious Adaptation. European Conference on Computer Vision (ECCV), 2024. arXiv:2311.18815</a:t>
            </a:r>
          </a:p>
        </p:txBody>
      </p:sp>
      <p:sp>
        <p:nvSpPr>
          <p:cNvPr id="13" name="TextBox 12"/>
          <p:cNvSpPr txBox="1"/>
          <p:nvPr/>
        </p:nvSpPr>
        <p:spPr>
          <a:xfrm>
            <a:off x="658368" y="4521708"/>
            <a:ext cx="5440680" cy="274320"/>
          </a:xfrm>
          <a:prstGeom prst="rect">
            <a:avLst/>
          </a:prstGeom>
          <a:noFill/>
        </p:spPr>
        <p:txBody>
          <a:bodyPr wrap="square">
            <a:spAutoFit/>
          </a:bodyPr>
          <a:lstStyle/>
          <a:p>
            <a:pPr algn="l">
              <a:defRPr sz="950" b="1">
                <a:solidFill>
                  <a:srgbClr val="1A1A1A"/>
                </a:solidFill>
                <a:latin typeface="Calibri"/>
              </a:defRPr>
            </a:pPr>
            <a:r>
              <a:t>GIFT (preprint)</a:t>
            </a:r>
          </a:p>
        </p:txBody>
      </p:sp>
      <p:sp>
        <p:nvSpPr>
          <p:cNvPr id="14" name="TextBox 13"/>
          <p:cNvSpPr txBox="1"/>
          <p:nvPr/>
        </p:nvSpPr>
        <p:spPr>
          <a:xfrm>
            <a:off x="658368" y="4713732"/>
            <a:ext cx="5440680" cy="274320"/>
          </a:xfrm>
          <a:prstGeom prst="rect">
            <a:avLst/>
          </a:prstGeom>
          <a:noFill/>
        </p:spPr>
        <p:txBody>
          <a:bodyPr wrap="square">
            <a:spAutoFit/>
          </a:bodyPr>
          <a:lstStyle/>
          <a:p>
            <a:pPr algn="l">
              <a:defRPr sz="830" b="0">
                <a:solidFill>
                  <a:srgbClr val="1A1A1A"/>
                </a:solidFill>
                <a:latin typeface="Calibri"/>
              </a:defRPr>
            </a:pPr>
            <a:r>
              <a:t>A. Abdalla, I. Shaheen, D. DeGenaro, R. Mallick, B. Raita, S. A. Bargal. GIFT: Gradient-aware Immunization of diffusion models against malicious Fine-Tuning with safe concepts retention. arXiv preprint arXiv:2507.13598, 18 July 2025. No peer-reviewed venue listed.</a:t>
            </a:r>
          </a:p>
        </p:txBody>
      </p:sp>
      <p:sp>
        <p:nvSpPr>
          <p:cNvPr id="15" name="TextBox 14"/>
          <p:cNvSpPr txBox="1"/>
          <p:nvPr/>
        </p:nvSpPr>
        <p:spPr>
          <a:xfrm>
            <a:off x="6464807" y="1298448"/>
            <a:ext cx="5440680" cy="274320"/>
          </a:xfrm>
          <a:prstGeom prst="rect">
            <a:avLst/>
          </a:prstGeom>
          <a:noFill/>
        </p:spPr>
        <p:txBody>
          <a:bodyPr wrap="square">
            <a:spAutoFit/>
          </a:bodyPr>
          <a:lstStyle/>
          <a:p>
            <a:pPr algn="l">
              <a:defRPr sz="950" b="1">
                <a:solidFill>
                  <a:srgbClr val="1A1A1A"/>
                </a:solidFill>
                <a:latin typeface="Calibri"/>
              </a:defRPr>
            </a:pPr>
            <a:r>
              <a:t>Meta-Unlearning</a:t>
            </a:r>
          </a:p>
        </p:txBody>
      </p:sp>
      <p:sp>
        <p:nvSpPr>
          <p:cNvPr id="16" name="TextBox 15"/>
          <p:cNvSpPr txBox="1"/>
          <p:nvPr/>
        </p:nvSpPr>
        <p:spPr>
          <a:xfrm>
            <a:off x="6464807" y="1490472"/>
            <a:ext cx="5440680" cy="274320"/>
          </a:xfrm>
          <a:prstGeom prst="rect">
            <a:avLst/>
          </a:prstGeom>
          <a:noFill/>
        </p:spPr>
        <p:txBody>
          <a:bodyPr wrap="square">
            <a:spAutoFit/>
          </a:bodyPr>
          <a:lstStyle/>
          <a:p>
            <a:pPr algn="l">
              <a:defRPr sz="830" b="0">
                <a:solidFill>
                  <a:srgbClr val="1A1A1A"/>
                </a:solidFill>
                <a:latin typeface="Calibri"/>
              </a:defRPr>
            </a:pPr>
            <a:r>
              <a:t>H. Gao, T. Pang, C. Du, T. Hu, Z. Deng, M. Lin. Meta-Unlearning on Diffusion Models: Preventing Relearning Unlearned Concepts. IEEE/CVF International Conference on Computer Vision (ICCV), 2025. arXiv:2410.12777</a:t>
            </a:r>
          </a:p>
        </p:txBody>
      </p:sp>
      <p:sp>
        <p:nvSpPr>
          <p:cNvPr id="17" name="TextBox 16"/>
          <p:cNvSpPr txBox="1"/>
          <p:nvPr/>
        </p:nvSpPr>
        <p:spPr>
          <a:xfrm>
            <a:off x="6464807" y="1943100"/>
            <a:ext cx="5440680" cy="274320"/>
          </a:xfrm>
          <a:prstGeom prst="rect">
            <a:avLst/>
          </a:prstGeom>
          <a:noFill/>
        </p:spPr>
        <p:txBody>
          <a:bodyPr wrap="square">
            <a:spAutoFit/>
          </a:bodyPr>
          <a:lstStyle/>
          <a:p>
            <a:pPr algn="l">
              <a:defRPr sz="950" b="1">
                <a:solidFill>
                  <a:srgbClr val="1A1A1A"/>
                </a:solidFill>
                <a:latin typeface="Calibri"/>
              </a:defRPr>
            </a:pPr>
            <a:r>
              <a:t>ResAlign (preprint)</a:t>
            </a:r>
          </a:p>
        </p:txBody>
      </p:sp>
      <p:sp>
        <p:nvSpPr>
          <p:cNvPr id="18" name="TextBox 17"/>
          <p:cNvSpPr txBox="1"/>
          <p:nvPr/>
        </p:nvSpPr>
        <p:spPr>
          <a:xfrm>
            <a:off x="6464807" y="2135124"/>
            <a:ext cx="5440680" cy="274320"/>
          </a:xfrm>
          <a:prstGeom prst="rect">
            <a:avLst/>
          </a:prstGeom>
          <a:noFill/>
        </p:spPr>
        <p:txBody>
          <a:bodyPr wrap="square">
            <a:spAutoFit/>
          </a:bodyPr>
          <a:lstStyle/>
          <a:p>
            <a:pPr algn="l">
              <a:defRPr sz="830" b="0">
                <a:solidFill>
                  <a:srgbClr val="1A1A1A"/>
                </a:solidFill>
                <a:latin typeface="Calibri"/>
              </a:defRPr>
            </a:pPr>
            <a:r>
              <a:t>J. Li, W. Gu, Y. Wang, X. Qi, X. Li, Y. Wang, Z. Qin, K. Zhang. Towards Resilient Safety-driven Unlearning for Diffusion Models against Downstream Fine-tuning. arXiv preprint arXiv:2507.16302, 2025. Stated by the authors' repository as accepted to NeurIPS 2025; acceptance not independently verified here.</a:t>
            </a:r>
          </a:p>
        </p:txBody>
      </p:sp>
      <p:sp>
        <p:nvSpPr>
          <p:cNvPr id="19" name="TextBox 18"/>
          <p:cNvSpPr txBox="1"/>
          <p:nvPr/>
        </p:nvSpPr>
        <p:spPr>
          <a:xfrm>
            <a:off x="6464807" y="2711196"/>
            <a:ext cx="5440680" cy="274320"/>
          </a:xfrm>
          <a:prstGeom prst="rect">
            <a:avLst/>
          </a:prstGeom>
          <a:noFill/>
        </p:spPr>
        <p:txBody>
          <a:bodyPr wrap="square">
            <a:spAutoFit/>
          </a:bodyPr>
          <a:lstStyle/>
          <a:p>
            <a:pPr algn="l">
              <a:defRPr sz="950" b="1">
                <a:solidFill>
                  <a:srgbClr val="1A1A1A"/>
                </a:solidFill>
                <a:latin typeface="Calibri"/>
              </a:defRPr>
            </a:pPr>
            <a:r>
              <a:t>FRAG / FRP (preprint, implementation unavailable)</a:t>
            </a:r>
          </a:p>
        </p:txBody>
      </p:sp>
      <p:sp>
        <p:nvSpPr>
          <p:cNvPr id="20" name="TextBox 19"/>
          <p:cNvSpPr txBox="1"/>
          <p:nvPr/>
        </p:nvSpPr>
        <p:spPr>
          <a:xfrm>
            <a:off x="6464807" y="2903220"/>
            <a:ext cx="5440680" cy="274320"/>
          </a:xfrm>
          <a:prstGeom prst="rect">
            <a:avLst/>
          </a:prstGeom>
          <a:noFill/>
        </p:spPr>
        <p:txBody>
          <a:bodyPr wrap="square">
            <a:spAutoFit/>
          </a:bodyPr>
          <a:lstStyle/>
          <a:p>
            <a:pPr algn="l">
              <a:defRPr sz="830" b="0">
                <a:solidFill>
                  <a:srgbClr val="1A1A1A"/>
                </a:solidFill>
                <a:latin typeface="Calibri"/>
              </a:defRPr>
            </a:pPr>
            <a:r>
              <a:t>Distance Is Not Enough: Forget-Retain Alignment Gap Predicts LLM Relearning Robustness. arXiv preprint arXiv:2608.25429. The public repository styles this as EMNLP 2026 Main Conference; the repository contains a README and two images and ships no implementation (0 Python files), so our FRP arm is a from-paper port with no reference to check against.</a:t>
            </a:r>
          </a:p>
        </p:txBody>
      </p:sp>
      <p:sp>
        <p:nvSpPr>
          <p:cNvPr id="21" name="TextBox 20"/>
          <p:cNvSpPr txBox="1"/>
          <p:nvPr/>
        </p:nvSpPr>
        <p:spPr>
          <a:xfrm>
            <a:off x="6464807" y="3479291"/>
            <a:ext cx="5440680" cy="274320"/>
          </a:xfrm>
          <a:prstGeom prst="rect">
            <a:avLst/>
          </a:prstGeom>
          <a:noFill/>
        </p:spPr>
        <p:txBody>
          <a:bodyPr wrap="square">
            <a:spAutoFit/>
          </a:bodyPr>
          <a:lstStyle/>
          <a:p>
            <a:pPr algn="l">
              <a:defRPr sz="950" b="1">
                <a:solidFill>
                  <a:srgbClr val="1A1A1A"/>
                </a:solidFill>
                <a:latin typeface="Calibri"/>
              </a:defRPr>
            </a:pPr>
            <a:r>
              <a:t>MLAC / Self-Destructing Models</a:t>
            </a:r>
          </a:p>
        </p:txBody>
      </p:sp>
      <p:sp>
        <p:nvSpPr>
          <p:cNvPr id="22" name="TextBox 21"/>
          <p:cNvSpPr txBox="1"/>
          <p:nvPr/>
        </p:nvSpPr>
        <p:spPr>
          <a:xfrm>
            <a:off x="6464807" y="3671315"/>
            <a:ext cx="5440680" cy="274320"/>
          </a:xfrm>
          <a:prstGeom prst="rect">
            <a:avLst/>
          </a:prstGeom>
          <a:noFill/>
        </p:spPr>
        <p:txBody>
          <a:bodyPr wrap="square">
            <a:spAutoFit/>
          </a:bodyPr>
          <a:lstStyle/>
          <a:p>
            <a:pPr algn="l">
              <a:defRPr sz="830" b="0">
                <a:solidFill>
                  <a:srgbClr val="1A1A1A"/>
                </a:solidFill>
                <a:latin typeface="Calibri"/>
              </a:defRPr>
            </a:pPr>
            <a:r>
              <a:t>P. Henderson, E. Mitchell, C. D. Manning, D. Jurafsky, C. Finn. Self-Destructing Models: Increasing the Costs of Harmful Dual Uses of Foundation Models. AAAI/ACM Conference on AI, Ethics, and Society (AIES), 2023. arXiv:2211.14946</a:t>
            </a:r>
          </a:p>
        </p:txBody>
      </p:sp>
      <p:sp>
        <p:nvSpPr>
          <p:cNvPr id="23" name="TextBox 22"/>
          <p:cNvSpPr txBox="1"/>
          <p:nvPr/>
        </p:nvSpPr>
        <p:spPr>
          <a:xfrm>
            <a:off x="6464807" y="4123944"/>
            <a:ext cx="5440680" cy="274320"/>
          </a:xfrm>
          <a:prstGeom prst="rect">
            <a:avLst/>
          </a:prstGeom>
          <a:noFill/>
        </p:spPr>
        <p:txBody>
          <a:bodyPr wrap="square">
            <a:spAutoFit/>
          </a:bodyPr>
          <a:lstStyle/>
          <a:p>
            <a:pPr algn="l">
              <a:defRPr sz="950" b="1">
                <a:solidFill>
                  <a:srgbClr val="1A1A1A"/>
                </a:solidFill>
                <a:latin typeface="Calibri"/>
              </a:defRPr>
            </a:pPr>
            <a:r>
              <a:t>SOPHON</a:t>
            </a:r>
          </a:p>
        </p:txBody>
      </p:sp>
      <p:sp>
        <p:nvSpPr>
          <p:cNvPr id="24" name="TextBox 23"/>
          <p:cNvSpPr txBox="1"/>
          <p:nvPr/>
        </p:nvSpPr>
        <p:spPr>
          <a:xfrm>
            <a:off x="6464807" y="4315968"/>
            <a:ext cx="5440680" cy="274320"/>
          </a:xfrm>
          <a:prstGeom prst="rect">
            <a:avLst/>
          </a:prstGeom>
          <a:noFill/>
        </p:spPr>
        <p:txBody>
          <a:bodyPr wrap="square">
            <a:spAutoFit/>
          </a:bodyPr>
          <a:lstStyle/>
          <a:p>
            <a:pPr algn="l">
              <a:defRPr sz="830" b="0">
                <a:solidFill>
                  <a:srgbClr val="1A1A1A"/>
                </a:solidFill>
                <a:latin typeface="Calibri"/>
              </a:defRPr>
            </a:pPr>
            <a:r>
              <a:t>J. Deng, S. Pang, Y. Chen, L. Xia, Y. Bai, H. Weng, W. Xu. SOPHON: Non-Fine-Tunable Learning to Restrain Task Transferability For Pre-trained Models. IEEE Symposium on Security and Privacy (S&amp;P), 2024. arXiv:2404.12699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